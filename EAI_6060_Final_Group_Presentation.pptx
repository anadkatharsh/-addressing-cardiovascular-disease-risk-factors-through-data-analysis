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66" r:id="rId5"/>
    <p:sldId id="260" r:id="rId6"/>
    <p:sldId id="261" r:id="rId7"/>
    <p:sldId id="262" r:id="rId8"/>
    <p:sldId id="268" r:id="rId9"/>
    <p:sldId id="267" r:id="rId10"/>
    <p:sldId id="265" r:id="rId11"/>
  </p:sldIdLst>
  <p:sldSz cx="9144000" cy="5143500" type="screen16x9"/>
  <p:notesSz cx="6858000" cy="9144000"/>
  <p:embeddedFontLst>
    <p:embeddedFont>
      <p:font typeface="Alfa Slab One" panose="020B0604020202020204" charset="0"/>
      <p:regular r:id="rId13"/>
    </p:embeddedFont>
    <p:embeddedFont>
      <p:font typeface="Lato" panose="020F0502020204030203" pitchFamily="34" charset="0"/>
      <p:regular r:id="rId14"/>
      <p:bold r:id="rId15"/>
      <p:italic r:id="rId16"/>
      <p:boldItalic r:id="rId17"/>
    </p:embeddedFont>
    <p:embeddedFont>
      <p:font typeface="Lato Black" panose="020F0502020204030203" pitchFamily="34" charset="0"/>
      <p:bold r:id="rId18"/>
      <p:boldItalic r:id="rId19"/>
    </p:embeddedFont>
    <p:embeddedFont>
      <p:font typeface="Montserrat Black" panose="00000A00000000000000" pitchFamily="2" charset="0"/>
      <p:bold r:id="rId20"/>
      <p:boldItalic r:id="rId21"/>
    </p:embeddedFont>
    <p:embeddedFont>
      <p:font typeface="Proxima Nova"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63273" autoAdjust="0"/>
  </p:normalViewPr>
  <p:slideViewPr>
    <p:cSldViewPr snapToGrid="0">
      <p:cViewPr varScale="1">
        <p:scale>
          <a:sx n="128" d="100"/>
          <a:sy n="128" d="100"/>
        </p:scale>
        <p:origin x="154" y="91"/>
      </p:cViewPr>
      <p:guideLst>
        <p:guide orient="horz" pos="1620"/>
        <p:guide pos="2880"/>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e7b4ce5cce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e7b4ce5cce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rtl="0">
              <a:spcBef>
                <a:spcPts val="1700"/>
              </a:spcBef>
              <a:spcAft>
                <a:spcPts val="170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2e7b4ce5cce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2e7b4ce5cc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sz="3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CE905C6E-28D3-258F-4FF8-2E20F15C4142}"/>
            </a:ext>
          </a:extLst>
        </p:cNvPr>
        <p:cNvGrpSpPr/>
        <p:nvPr/>
      </p:nvGrpSpPr>
      <p:grpSpPr>
        <a:xfrm>
          <a:off x="0" y="0"/>
          <a:ext cx="0" cy="0"/>
          <a:chOff x="0" y="0"/>
          <a:chExt cx="0" cy="0"/>
        </a:xfrm>
      </p:grpSpPr>
      <p:sp>
        <p:nvSpPr>
          <p:cNvPr id="76" name="Google Shape;76;g2e7b4ce5cce_0_11:notes">
            <a:extLst>
              <a:ext uri="{FF2B5EF4-FFF2-40B4-BE49-F238E27FC236}">
                <a16:creationId xmlns:a16="http://schemas.microsoft.com/office/drawing/2014/main" id="{A7B7A6D4-7347-21B8-B7E5-0AAA754982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2e7b4ce5cce_0_11:notes">
            <a:extLst>
              <a:ext uri="{FF2B5EF4-FFF2-40B4-BE49-F238E27FC236}">
                <a16:creationId xmlns:a16="http://schemas.microsoft.com/office/drawing/2014/main" id="{7CBA964F-4DDE-9B4D-F0E2-18D60C541B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rtl="0">
              <a:spcBef>
                <a:spcPts val="1700"/>
              </a:spcBef>
              <a:spcAft>
                <a:spcPts val="1700"/>
              </a:spcAft>
              <a:buNone/>
            </a:pPr>
            <a:endParaRPr lang="en-US" b="0" dirty="0">
              <a:effectLst/>
            </a:endParaRPr>
          </a:p>
        </p:txBody>
      </p:sp>
    </p:spTree>
    <p:extLst>
      <p:ext uri="{BB962C8B-B14F-4D97-AF65-F5344CB8AC3E}">
        <p14:creationId xmlns:p14="http://schemas.microsoft.com/office/powerpoint/2010/main" val="33044573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e7b4ce5cce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e7b4ce5cce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rtl="0" fontAlgn="base">
              <a:spcBef>
                <a:spcPts val="1700"/>
              </a:spcBef>
              <a:spcAft>
                <a:spcPts val="1700"/>
              </a:spcAft>
              <a:buFont typeface="Arial" panose="020B0604020202020204" pitchFamily="34" charset="0"/>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e7b79acdf0_4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2e7b79acdf0_4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rtl="0">
              <a:spcBef>
                <a:spcPts val="1700"/>
              </a:spcBef>
              <a:spcAft>
                <a:spcPts val="1700"/>
              </a:spcAft>
              <a:buNone/>
            </a:pPr>
            <a:endParaRPr lang="en-US" b="0" dirty="0">
              <a:effectLs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e7b4ce5cce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e7b4ce5cce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rtl="0">
              <a:spcBef>
                <a:spcPts val="1700"/>
              </a:spcBef>
              <a:spcAft>
                <a:spcPts val="1700"/>
              </a:spcAft>
              <a:buNone/>
            </a:pPr>
            <a:endParaRPr lang="en-US" b="0" dirty="0">
              <a:effectLst/>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6C653123-D862-FE6A-C1FE-25586AAC9636}"/>
            </a:ext>
          </a:extLst>
        </p:cNvPr>
        <p:cNvGrpSpPr/>
        <p:nvPr/>
      </p:nvGrpSpPr>
      <p:grpSpPr>
        <a:xfrm>
          <a:off x="0" y="0"/>
          <a:ext cx="0" cy="0"/>
          <a:chOff x="0" y="0"/>
          <a:chExt cx="0" cy="0"/>
        </a:xfrm>
      </p:grpSpPr>
      <p:sp>
        <p:nvSpPr>
          <p:cNvPr id="120" name="Google Shape;120;g2e7b4ce5cce_0_31:notes">
            <a:extLst>
              <a:ext uri="{FF2B5EF4-FFF2-40B4-BE49-F238E27FC236}">
                <a16:creationId xmlns:a16="http://schemas.microsoft.com/office/drawing/2014/main" id="{07BFEC74-66FB-ED67-C8C0-08BB04DBEC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e7b4ce5cce_0_31:notes">
            <a:extLst>
              <a:ext uri="{FF2B5EF4-FFF2-40B4-BE49-F238E27FC236}">
                <a16:creationId xmlns:a16="http://schemas.microsoft.com/office/drawing/2014/main" id="{61E4F40D-43EA-37F1-ECF9-FD2FAFC857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rtl="0">
              <a:spcBef>
                <a:spcPts val="1700"/>
              </a:spcBef>
              <a:spcAft>
                <a:spcPts val="1700"/>
              </a:spcAft>
              <a:buNone/>
            </a:pPr>
            <a:endParaRPr lang="en-US" b="0" dirty="0">
              <a:effectLst/>
            </a:endParaRPr>
          </a:p>
        </p:txBody>
      </p:sp>
    </p:spTree>
    <p:extLst>
      <p:ext uri="{BB962C8B-B14F-4D97-AF65-F5344CB8AC3E}">
        <p14:creationId xmlns:p14="http://schemas.microsoft.com/office/powerpoint/2010/main" val="1822636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7192A272-0B9C-E128-14B5-BF7D5266B957}"/>
            </a:ext>
          </a:extLst>
        </p:cNvPr>
        <p:cNvGrpSpPr/>
        <p:nvPr/>
      </p:nvGrpSpPr>
      <p:grpSpPr>
        <a:xfrm>
          <a:off x="0" y="0"/>
          <a:ext cx="0" cy="0"/>
          <a:chOff x="0" y="0"/>
          <a:chExt cx="0" cy="0"/>
        </a:xfrm>
      </p:grpSpPr>
      <p:sp>
        <p:nvSpPr>
          <p:cNvPr id="120" name="Google Shape;120;g2e7b4ce5cce_0_31:notes">
            <a:extLst>
              <a:ext uri="{FF2B5EF4-FFF2-40B4-BE49-F238E27FC236}">
                <a16:creationId xmlns:a16="http://schemas.microsoft.com/office/drawing/2014/main" id="{D90C855D-4F77-01FC-11A7-70404A1479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e7b4ce5cce_0_31:notes">
            <a:extLst>
              <a:ext uri="{FF2B5EF4-FFF2-40B4-BE49-F238E27FC236}">
                <a16:creationId xmlns:a16="http://schemas.microsoft.com/office/drawing/2014/main" id="{4A682E7E-D722-6283-45AB-686F9B539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Font typeface="Arial" panose="020B0604020202020204" pitchFamily="34" charset="0"/>
              <a:buNone/>
            </a:pPr>
            <a:endParaRPr lang="en-US" b="0" dirty="0">
              <a:effectLst/>
            </a:endParaRPr>
          </a:p>
        </p:txBody>
      </p:sp>
    </p:spTree>
    <p:extLst>
      <p:ext uri="{BB962C8B-B14F-4D97-AF65-F5344CB8AC3E}">
        <p14:creationId xmlns:p14="http://schemas.microsoft.com/office/powerpoint/2010/main" val="11028031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e7b4ce5cce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2e7b4ce5cce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rtl="0">
              <a:spcBef>
                <a:spcPts val="1700"/>
              </a:spcBef>
              <a:spcAft>
                <a:spcPts val="1700"/>
              </a:spcAft>
              <a:buNone/>
            </a:pPr>
            <a:endParaRPr lang="en-US" b="0" dirty="0">
              <a:effectLst/>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w="76200" cap="flat" cmpd="sng">
            <a:solidFill>
              <a:schemeClr val="dk1"/>
            </a:solidFill>
            <a:prstDash val="solid"/>
            <a:round/>
            <a:headEnd type="none" w="sm" len="sm"/>
            <a:tailEnd type="none" w="sm" len="sm"/>
          </a:ln>
        </p:spPr>
      </p:cxnSp>
      <p:sp>
        <p:nvSpPr>
          <p:cNvPr id="11" name="Google Shape;11;p2"/>
          <p:cNvSpPr txBox="1">
            <a:spLocks noGrp="1"/>
          </p:cNvSpPr>
          <p:nvPr>
            <p:ph type="ctrTitle"/>
          </p:nvPr>
        </p:nvSpPr>
        <p:spPr>
          <a:xfrm>
            <a:off x="311700" y="595975"/>
            <a:ext cx="8520600" cy="1957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2" name="Google Shape;12;p2"/>
          <p:cNvSpPr txBox="1">
            <a:spLocks noGrp="1"/>
          </p:cNvSpPr>
          <p:nvPr>
            <p:ph type="subTitle" idx="1"/>
          </p:nvPr>
        </p:nvSpPr>
        <p:spPr>
          <a:xfrm>
            <a:off x="311700" y="3165823"/>
            <a:ext cx="8520600" cy="733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2480550"/>
            <a:ext cx="8114400" cy="24459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9" name="Google Shape;19;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6318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 name="Google Shape;31;p7"/>
          <p:cNvSpPr txBox="1">
            <a:spLocks noGrp="1"/>
          </p:cNvSpPr>
          <p:nvPr>
            <p:ph type="body" idx="1"/>
          </p:nvPr>
        </p:nvSpPr>
        <p:spPr>
          <a:xfrm>
            <a:off x="311700" y="1490875"/>
            <a:ext cx="2808000" cy="30780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526350"/>
            <a:ext cx="56838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 name="Google Shape;38;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39" name="Google Shape;39;p9"/>
          <p:cNvSpPr txBox="1">
            <a:spLocks noGrp="1"/>
          </p:cNvSpPr>
          <p:nvPr>
            <p:ph type="title"/>
          </p:nvPr>
        </p:nvSpPr>
        <p:spPr>
          <a:xfrm>
            <a:off x="265500" y="1375599"/>
            <a:ext cx="4045200" cy="15519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0" name="Google Shape;40;p9"/>
          <p:cNvSpPr txBox="1">
            <a:spLocks noGrp="1"/>
          </p:cNvSpPr>
          <p:nvPr>
            <p:ph type="subTitle" idx="1"/>
          </p:nvPr>
        </p:nvSpPr>
        <p:spPr>
          <a:xfrm>
            <a:off x="265500" y="2981125"/>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41" name="Google Shape;41;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167925"/>
            <a:ext cx="8520600" cy="19800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a:spLocks noGrp="1"/>
          </p:cNvSpPr>
          <p:nvPr>
            <p:ph type="body" idx="1"/>
          </p:nvPr>
        </p:nvSpPr>
        <p:spPr>
          <a:xfrm>
            <a:off x="311700" y="32242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ameday">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figshare.com/articles/dataset/CVD_Risk_Prediction_Synthetic_Dataset/5439991?file=9399457"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55"/>
        <p:cNvGrpSpPr/>
        <p:nvPr/>
      </p:nvGrpSpPr>
      <p:grpSpPr>
        <a:xfrm>
          <a:off x="0" y="0"/>
          <a:ext cx="0" cy="0"/>
          <a:chOff x="0" y="0"/>
          <a:chExt cx="0" cy="0"/>
        </a:xfrm>
      </p:grpSpPr>
      <p:sp>
        <p:nvSpPr>
          <p:cNvPr id="56" name="Google Shape;56;p13"/>
          <p:cNvSpPr txBox="1">
            <a:spLocks noGrp="1"/>
          </p:cNvSpPr>
          <p:nvPr>
            <p:ph type="ctrTitle"/>
          </p:nvPr>
        </p:nvSpPr>
        <p:spPr>
          <a:xfrm>
            <a:off x="622884" y="1393017"/>
            <a:ext cx="7035300" cy="19830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SzPts val="891"/>
              <a:buNone/>
            </a:pPr>
            <a:r>
              <a:rPr lang="en" sz="3632" dirty="0">
                <a:latin typeface="Montserrat Black"/>
                <a:ea typeface="Montserrat Black"/>
                <a:cs typeface="Montserrat Black"/>
                <a:sym typeface="Montserrat Black"/>
              </a:rPr>
              <a:t>EAI 6060 </a:t>
            </a:r>
            <a:r>
              <a:rPr lang="en" sz="3632" dirty="0">
                <a:solidFill>
                  <a:schemeClr val="dk1"/>
                </a:solidFill>
                <a:latin typeface="Montserrat Black"/>
                <a:ea typeface="Montserrat Black"/>
                <a:cs typeface="Montserrat Black"/>
                <a:sym typeface="Montserrat Black"/>
              </a:rPr>
              <a:t>Healthcare Information Processing</a:t>
            </a:r>
            <a:endParaRPr sz="3632" dirty="0">
              <a:solidFill>
                <a:schemeClr val="dk1"/>
              </a:solidFill>
              <a:latin typeface="Montserrat Black"/>
              <a:ea typeface="Montserrat Black"/>
              <a:cs typeface="Montserrat Black"/>
              <a:sym typeface="Montserrat Black"/>
            </a:endParaRPr>
          </a:p>
          <a:p>
            <a:pPr marL="0" lvl="0" indent="0" algn="l" rtl="0">
              <a:spcBef>
                <a:spcPts val="0"/>
              </a:spcBef>
              <a:spcAft>
                <a:spcPts val="0"/>
              </a:spcAft>
              <a:buSzPts val="891"/>
              <a:buNone/>
            </a:pPr>
            <a:endParaRPr lang="en-IN" sz="3632" dirty="0">
              <a:solidFill>
                <a:schemeClr val="dk1"/>
              </a:solidFill>
              <a:latin typeface="Montserrat Black"/>
              <a:ea typeface="Montserrat Black"/>
              <a:cs typeface="Montserrat Black"/>
              <a:sym typeface="Montserrat Black"/>
            </a:endParaRPr>
          </a:p>
          <a:p>
            <a:pPr marL="0" lvl="0" indent="0" algn="l" rtl="0">
              <a:spcBef>
                <a:spcPts val="0"/>
              </a:spcBef>
              <a:spcAft>
                <a:spcPts val="0"/>
              </a:spcAft>
              <a:buSzPts val="891"/>
              <a:buNone/>
            </a:pPr>
            <a:r>
              <a:rPr lang="en" sz="3532" dirty="0">
                <a:solidFill>
                  <a:srgbClr val="434343"/>
                </a:solidFill>
                <a:latin typeface="Montserrat Black"/>
                <a:ea typeface="Montserrat Black"/>
                <a:cs typeface="Montserrat Black"/>
                <a:sym typeface="Montserrat Black"/>
              </a:rPr>
              <a:t>Addressing Cardiovascular Disease Risk Factors Through Data Analysis</a:t>
            </a:r>
            <a:endParaRPr sz="3632" dirty="0">
              <a:solidFill>
                <a:schemeClr val="dk1"/>
              </a:solidFill>
              <a:latin typeface="Montserrat Black"/>
              <a:ea typeface="Montserrat Black"/>
              <a:cs typeface="Montserrat Black"/>
              <a:sym typeface="Montserrat Black"/>
            </a:endParaRPr>
          </a:p>
        </p:txBody>
      </p:sp>
      <p:sp>
        <p:nvSpPr>
          <p:cNvPr id="57" name="Google Shape;57;p13"/>
          <p:cNvSpPr txBox="1">
            <a:spLocks noGrp="1"/>
          </p:cNvSpPr>
          <p:nvPr>
            <p:ph type="subTitle" idx="1"/>
          </p:nvPr>
        </p:nvSpPr>
        <p:spPr>
          <a:xfrm>
            <a:off x="5506468" y="3878242"/>
            <a:ext cx="2340163" cy="1188300"/>
          </a:xfrm>
          <a:prstGeom prst="rect">
            <a:avLst/>
          </a:prstGeom>
        </p:spPr>
        <p:txBody>
          <a:bodyPr spcFirstLastPara="1" wrap="square" lIns="91425" tIns="91425" rIns="91425" bIns="91425" anchor="t" anchorCtr="0">
            <a:noAutofit/>
          </a:bodyPr>
          <a:lstStyle/>
          <a:p>
            <a:pPr marL="0" marR="381000" lvl="0" indent="0" algn="l" rtl="0">
              <a:lnSpc>
                <a:spcPct val="115000"/>
              </a:lnSpc>
              <a:spcBef>
                <a:spcPts val="0"/>
              </a:spcBef>
              <a:spcAft>
                <a:spcPts val="0"/>
              </a:spcAft>
              <a:buClr>
                <a:schemeClr val="dk1"/>
              </a:buClr>
              <a:buSzPts val="852"/>
              <a:buFont typeface="Arial"/>
              <a:buNone/>
            </a:pPr>
            <a:r>
              <a:rPr lang="en" sz="1800" dirty="0">
                <a:solidFill>
                  <a:srgbClr val="434343"/>
                </a:solidFill>
                <a:latin typeface="Lato Black"/>
                <a:ea typeface="Lato Black"/>
                <a:cs typeface="Lato Black"/>
                <a:sym typeface="Lato Black"/>
              </a:rPr>
              <a:t>Project Members: </a:t>
            </a:r>
          </a:p>
          <a:p>
            <a:pPr marL="0" marR="381000" lvl="0" indent="0" algn="l" rtl="0">
              <a:lnSpc>
                <a:spcPct val="115000"/>
              </a:lnSpc>
              <a:spcBef>
                <a:spcPts val="0"/>
              </a:spcBef>
              <a:spcAft>
                <a:spcPts val="0"/>
              </a:spcAft>
              <a:buClr>
                <a:schemeClr val="dk1"/>
              </a:buClr>
              <a:buSzPts val="852"/>
              <a:buFont typeface="Arial"/>
              <a:buNone/>
            </a:pPr>
            <a:r>
              <a:rPr lang="en" sz="1800" dirty="0">
                <a:solidFill>
                  <a:srgbClr val="434343"/>
                </a:solidFill>
                <a:latin typeface="Lato Black"/>
                <a:ea typeface="Lato Black"/>
                <a:cs typeface="Lato Black"/>
                <a:sym typeface="Lato Black"/>
              </a:rPr>
              <a:t>Harsh Anadkat</a:t>
            </a:r>
            <a:endParaRPr sz="1800" dirty="0">
              <a:solidFill>
                <a:srgbClr val="434343"/>
              </a:solidFill>
              <a:latin typeface="Lato Black"/>
              <a:ea typeface="Lato Black"/>
              <a:cs typeface="Lato Black"/>
              <a:sym typeface="Lato Black"/>
            </a:endParaRPr>
          </a:p>
          <a:p>
            <a:pPr marL="0" marR="381000" lvl="0" indent="0" algn="l" rtl="0">
              <a:lnSpc>
                <a:spcPct val="115000"/>
              </a:lnSpc>
              <a:spcBef>
                <a:spcPts val="0"/>
              </a:spcBef>
              <a:spcAft>
                <a:spcPts val="0"/>
              </a:spcAft>
              <a:buClr>
                <a:schemeClr val="dk1"/>
              </a:buClr>
              <a:buSzPts val="852"/>
              <a:buFont typeface="Arial"/>
              <a:buNone/>
            </a:pPr>
            <a:endParaRPr sz="1800" dirty="0">
              <a:solidFill>
                <a:srgbClr val="434343"/>
              </a:solidFill>
              <a:latin typeface="Lato Black"/>
              <a:ea typeface="Lato Black"/>
              <a:cs typeface="Lato Black"/>
              <a:sym typeface="Lato Black"/>
            </a:endParaRPr>
          </a:p>
          <a:p>
            <a:pPr marL="0" lvl="0" indent="0" algn="ctr" rtl="0">
              <a:lnSpc>
                <a:spcPct val="80000"/>
              </a:lnSpc>
              <a:spcBef>
                <a:spcPts val="0"/>
              </a:spcBef>
              <a:spcAft>
                <a:spcPts val="0"/>
              </a:spcAft>
              <a:buSzPts val="852"/>
              <a:buNone/>
            </a:pPr>
            <a:endParaRPr sz="2170" dirty="0"/>
          </a:p>
        </p:txBody>
      </p:sp>
      <p:grpSp>
        <p:nvGrpSpPr>
          <p:cNvPr id="58" name="Google Shape;58;p13"/>
          <p:cNvGrpSpPr/>
          <p:nvPr/>
        </p:nvGrpSpPr>
        <p:grpSpPr>
          <a:xfrm>
            <a:off x="756716" y="3829974"/>
            <a:ext cx="862939" cy="43053"/>
            <a:chOff x="540118" y="292850"/>
            <a:chExt cx="817332" cy="64200"/>
          </a:xfrm>
        </p:grpSpPr>
        <p:sp>
          <p:nvSpPr>
            <p:cNvPr id="59" name="Google Shape;59;p13"/>
            <p:cNvSpPr/>
            <p:nvPr/>
          </p:nvSpPr>
          <p:spPr>
            <a:xfrm rot="10800000">
              <a:off x="540118" y="292850"/>
              <a:ext cx="408600" cy="642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0" name="Google Shape;60;p13"/>
            <p:cNvSpPr/>
            <p:nvPr/>
          </p:nvSpPr>
          <p:spPr>
            <a:xfrm rot="10800000">
              <a:off x="948850" y="292850"/>
              <a:ext cx="408600" cy="64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61" name="Google Shape;61;p13"/>
          <p:cNvGrpSpPr/>
          <p:nvPr/>
        </p:nvGrpSpPr>
        <p:grpSpPr>
          <a:xfrm>
            <a:off x="4140534" y="2706631"/>
            <a:ext cx="862939" cy="90824"/>
            <a:chOff x="540118" y="292850"/>
            <a:chExt cx="817332" cy="64200"/>
          </a:xfrm>
        </p:grpSpPr>
        <p:sp>
          <p:nvSpPr>
            <p:cNvPr id="62" name="Google Shape;62;p13"/>
            <p:cNvSpPr/>
            <p:nvPr/>
          </p:nvSpPr>
          <p:spPr>
            <a:xfrm rot="10800000">
              <a:off x="540118" y="292850"/>
              <a:ext cx="408600" cy="64200"/>
            </a:xfrm>
            <a:prstGeom prst="rect">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 name="Google Shape;63;p13"/>
            <p:cNvSpPr/>
            <p:nvPr/>
          </p:nvSpPr>
          <p:spPr>
            <a:xfrm rot="10800000">
              <a:off x="948850" y="292850"/>
              <a:ext cx="408600" cy="64200"/>
            </a:xfrm>
            <a:prstGeom prst="rect">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64" name="Google Shape;64;p13"/>
          <p:cNvSpPr/>
          <p:nvPr/>
        </p:nvSpPr>
        <p:spPr>
          <a:xfrm>
            <a:off x="8095400" y="0"/>
            <a:ext cx="10524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E9EDEE"/>
              </a:solidFill>
              <a:latin typeface="Lato"/>
              <a:ea typeface="Lato"/>
              <a:cs typeface="Lato"/>
              <a:sym typeface="Lato"/>
            </a:endParaRPr>
          </a:p>
        </p:txBody>
      </p:sp>
      <p:grpSp>
        <p:nvGrpSpPr>
          <p:cNvPr id="4" name="Google Shape;58;p13">
            <a:extLst>
              <a:ext uri="{FF2B5EF4-FFF2-40B4-BE49-F238E27FC236}">
                <a16:creationId xmlns:a16="http://schemas.microsoft.com/office/drawing/2014/main" id="{0D1F0A06-1A3E-2D8F-2297-D72B384C88C4}"/>
              </a:ext>
            </a:extLst>
          </p:cNvPr>
          <p:cNvGrpSpPr/>
          <p:nvPr/>
        </p:nvGrpSpPr>
        <p:grpSpPr>
          <a:xfrm>
            <a:off x="5627188" y="3856715"/>
            <a:ext cx="862939" cy="43053"/>
            <a:chOff x="540118" y="292850"/>
            <a:chExt cx="817332" cy="64200"/>
          </a:xfrm>
        </p:grpSpPr>
        <p:sp>
          <p:nvSpPr>
            <p:cNvPr id="5" name="Google Shape;59;p13">
              <a:extLst>
                <a:ext uri="{FF2B5EF4-FFF2-40B4-BE49-F238E27FC236}">
                  <a16:creationId xmlns:a16="http://schemas.microsoft.com/office/drawing/2014/main" id="{0ECA9A35-CD97-F218-B26B-DEAE34078FD0}"/>
                </a:ext>
              </a:extLst>
            </p:cNvPr>
            <p:cNvSpPr/>
            <p:nvPr/>
          </p:nvSpPr>
          <p:spPr>
            <a:xfrm rot="10800000">
              <a:off x="540118" y="292850"/>
              <a:ext cx="408600" cy="642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 name="Google Shape;60;p13">
              <a:extLst>
                <a:ext uri="{FF2B5EF4-FFF2-40B4-BE49-F238E27FC236}">
                  <a16:creationId xmlns:a16="http://schemas.microsoft.com/office/drawing/2014/main" id="{67B5748B-5CEB-567A-8481-C457165BE8D3}"/>
                </a:ext>
              </a:extLst>
            </p:cNvPr>
            <p:cNvSpPr/>
            <p:nvPr/>
          </p:nvSpPr>
          <p:spPr>
            <a:xfrm rot="10800000">
              <a:off x="948850" y="292850"/>
              <a:ext cx="408600" cy="64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7" name="Google Shape;57;p13">
            <a:extLst>
              <a:ext uri="{FF2B5EF4-FFF2-40B4-BE49-F238E27FC236}">
                <a16:creationId xmlns:a16="http://schemas.microsoft.com/office/drawing/2014/main" id="{6AEEDC69-665B-13D0-0121-F695C778E2DF}"/>
              </a:ext>
            </a:extLst>
          </p:cNvPr>
          <p:cNvSpPr txBox="1">
            <a:spLocks/>
          </p:cNvSpPr>
          <p:nvPr/>
        </p:nvSpPr>
        <p:spPr>
          <a:xfrm>
            <a:off x="596980" y="3873027"/>
            <a:ext cx="2734716" cy="1188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400"/>
              <a:buFont typeface="Proxima Nova"/>
              <a:buNone/>
              <a:defRPr sz="2400" b="0" i="0" u="none" strike="noStrike" cap="none">
                <a:solidFill>
                  <a:schemeClr val="dk2"/>
                </a:solidFill>
                <a:latin typeface="Proxima Nova"/>
                <a:ea typeface="Proxima Nova"/>
                <a:cs typeface="Proxima Nova"/>
                <a:sym typeface="Proxima Nova"/>
              </a:defRPr>
            </a:lvl1pPr>
            <a:lvl2pPr marL="914400" marR="0" lvl="1" indent="-317500" algn="ctr" rtl="0">
              <a:lnSpc>
                <a:spcPct val="100000"/>
              </a:lnSpc>
              <a:spcBef>
                <a:spcPts val="0"/>
              </a:spcBef>
              <a:spcAft>
                <a:spcPts val="0"/>
              </a:spcAft>
              <a:buClr>
                <a:schemeClr val="dk2"/>
              </a:buClr>
              <a:buSzPts val="2400"/>
              <a:buFont typeface="Proxima Nova"/>
              <a:buNone/>
              <a:defRPr sz="2400" b="0" i="0" u="none" strike="noStrike" cap="none">
                <a:solidFill>
                  <a:schemeClr val="dk2"/>
                </a:solidFill>
                <a:latin typeface="Proxima Nova"/>
                <a:ea typeface="Proxima Nova"/>
                <a:cs typeface="Proxima Nova"/>
                <a:sym typeface="Proxima Nova"/>
              </a:defRPr>
            </a:lvl2pPr>
            <a:lvl3pPr marL="1371600" marR="0" lvl="2" indent="-317500" algn="ctr" rtl="0">
              <a:lnSpc>
                <a:spcPct val="100000"/>
              </a:lnSpc>
              <a:spcBef>
                <a:spcPts val="0"/>
              </a:spcBef>
              <a:spcAft>
                <a:spcPts val="0"/>
              </a:spcAft>
              <a:buClr>
                <a:schemeClr val="dk2"/>
              </a:buClr>
              <a:buSzPts val="2400"/>
              <a:buFont typeface="Proxima Nova"/>
              <a:buNone/>
              <a:defRPr sz="2400" b="0" i="0" u="none" strike="noStrike" cap="none">
                <a:solidFill>
                  <a:schemeClr val="dk2"/>
                </a:solidFill>
                <a:latin typeface="Proxima Nova"/>
                <a:ea typeface="Proxima Nova"/>
                <a:cs typeface="Proxima Nova"/>
                <a:sym typeface="Proxima Nova"/>
              </a:defRPr>
            </a:lvl3pPr>
            <a:lvl4pPr marL="1828800" marR="0" lvl="3" indent="-317500" algn="ctr" rtl="0">
              <a:lnSpc>
                <a:spcPct val="100000"/>
              </a:lnSpc>
              <a:spcBef>
                <a:spcPts val="0"/>
              </a:spcBef>
              <a:spcAft>
                <a:spcPts val="0"/>
              </a:spcAft>
              <a:buClr>
                <a:schemeClr val="dk2"/>
              </a:buClr>
              <a:buSzPts val="2400"/>
              <a:buFont typeface="Proxima Nova"/>
              <a:buNone/>
              <a:defRPr sz="2400" b="0" i="0" u="none" strike="noStrike" cap="none">
                <a:solidFill>
                  <a:schemeClr val="dk2"/>
                </a:solidFill>
                <a:latin typeface="Proxima Nova"/>
                <a:ea typeface="Proxima Nova"/>
                <a:cs typeface="Proxima Nova"/>
                <a:sym typeface="Proxima Nova"/>
              </a:defRPr>
            </a:lvl4pPr>
            <a:lvl5pPr marL="2286000" marR="0" lvl="4" indent="-317500" algn="ctr" rtl="0">
              <a:lnSpc>
                <a:spcPct val="100000"/>
              </a:lnSpc>
              <a:spcBef>
                <a:spcPts val="0"/>
              </a:spcBef>
              <a:spcAft>
                <a:spcPts val="0"/>
              </a:spcAft>
              <a:buClr>
                <a:schemeClr val="dk2"/>
              </a:buClr>
              <a:buSzPts val="2400"/>
              <a:buFont typeface="Proxima Nova"/>
              <a:buNone/>
              <a:defRPr sz="2400" b="0" i="0" u="none" strike="noStrike" cap="none">
                <a:solidFill>
                  <a:schemeClr val="dk2"/>
                </a:solidFill>
                <a:latin typeface="Proxima Nova"/>
                <a:ea typeface="Proxima Nova"/>
                <a:cs typeface="Proxima Nova"/>
                <a:sym typeface="Proxima Nova"/>
              </a:defRPr>
            </a:lvl5pPr>
            <a:lvl6pPr marL="2743200" marR="0" lvl="5" indent="-317500" algn="ctr" rtl="0">
              <a:lnSpc>
                <a:spcPct val="100000"/>
              </a:lnSpc>
              <a:spcBef>
                <a:spcPts val="0"/>
              </a:spcBef>
              <a:spcAft>
                <a:spcPts val="0"/>
              </a:spcAft>
              <a:buClr>
                <a:schemeClr val="dk2"/>
              </a:buClr>
              <a:buSzPts val="2400"/>
              <a:buFont typeface="Proxima Nova"/>
              <a:buNone/>
              <a:defRPr sz="2400" b="0" i="0" u="none" strike="noStrike" cap="none">
                <a:solidFill>
                  <a:schemeClr val="dk2"/>
                </a:solidFill>
                <a:latin typeface="Proxima Nova"/>
                <a:ea typeface="Proxima Nova"/>
                <a:cs typeface="Proxima Nova"/>
                <a:sym typeface="Proxima Nova"/>
              </a:defRPr>
            </a:lvl6pPr>
            <a:lvl7pPr marL="3200400" marR="0" lvl="6" indent="-317500" algn="ctr" rtl="0">
              <a:lnSpc>
                <a:spcPct val="100000"/>
              </a:lnSpc>
              <a:spcBef>
                <a:spcPts val="0"/>
              </a:spcBef>
              <a:spcAft>
                <a:spcPts val="0"/>
              </a:spcAft>
              <a:buClr>
                <a:schemeClr val="dk2"/>
              </a:buClr>
              <a:buSzPts val="2400"/>
              <a:buFont typeface="Proxima Nova"/>
              <a:buNone/>
              <a:defRPr sz="2400" b="0" i="0" u="none" strike="noStrike" cap="none">
                <a:solidFill>
                  <a:schemeClr val="dk2"/>
                </a:solidFill>
                <a:latin typeface="Proxima Nova"/>
                <a:ea typeface="Proxima Nova"/>
                <a:cs typeface="Proxima Nova"/>
                <a:sym typeface="Proxima Nova"/>
              </a:defRPr>
            </a:lvl7pPr>
            <a:lvl8pPr marL="3657600" marR="0" lvl="7" indent="-317500" algn="ctr" rtl="0">
              <a:lnSpc>
                <a:spcPct val="100000"/>
              </a:lnSpc>
              <a:spcBef>
                <a:spcPts val="0"/>
              </a:spcBef>
              <a:spcAft>
                <a:spcPts val="0"/>
              </a:spcAft>
              <a:buClr>
                <a:schemeClr val="dk2"/>
              </a:buClr>
              <a:buSzPts val="2400"/>
              <a:buFont typeface="Proxima Nova"/>
              <a:buNone/>
              <a:defRPr sz="2400" b="0" i="0" u="none" strike="noStrike" cap="none">
                <a:solidFill>
                  <a:schemeClr val="dk2"/>
                </a:solidFill>
                <a:latin typeface="Proxima Nova"/>
                <a:ea typeface="Proxima Nova"/>
                <a:cs typeface="Proxima Nova"/>
                <a:sym typeface="Proxima Nova"/>
              </a:defRPr>
            </a:lvl8pPr>
            <a:lvl9pPr marL="4114800" marR="0" lvl="8" indent="-317500" algn="ctr" rtl="0">
              <a:lnSpc>
                <a:spcPct val="100000"/>
              </a:lnSpc>
              <a:spcBef>
                <a:spcPts val="0"/>
              </a:spcBef>
              <a:spcAft>
                <a:spcPts val="0"/>
              </a:spcAft>
              <a:buClr>
                <a:schemeClr val="dk2"/>
              </a:buClr>
              <a:buSzPts val="2400"/>
              <a:buFont typeface="Proxima Nova"/>
              <a:buNone/>
              <a:defRPr sz="2400" b="0" i="0" u="none" strike="noStrike" cap="none">
                <a:solidFill>
                  <a:schemeClr val="dk2"/>
                </a:solidFill>
                <a:latin typeface="Proxima Nova"/>
                <a:ea typeface="Proxima Nova"/>
                <a:cs typeface="Proxima Nova"/>
                <a:sym typeface="Proxima Nova"/>
              </a:defRPr>
            </a:lvl9pPr>
          </a:lstStyle>
          <a:p>
            <a:pPr marL="0" marR="381000" indent="0" algn="l">
              <a:lnSpc>
                <a:spcPct val="115000"/>
              </a:lnSpc>
              <a:buClr>
                <a:schemeClr val="dk1"/>
              </a:buClr>
              <a:buSzPts val="852"/>
              <a:buFont typeface="Arial"/>
              <a:buNone/>
            </a:pPr>
            <a:r>
              <a:rPr lang="en-IN" sz="1800" dirty="0">
                <a:solidFill>
                  <a:srgbClr val="434343"/>
                </a:solidFill>
                <a:latin typeface="Lato Black"/>
                <a:ea typeface="Lato Black"/>
                <a:cs typeface="Lato Black"/>
                <a:sym typeface="Lato Black"/>
              </a:rPr>
              <a:t>Professor: </a:t>
            </a:r>
          </a:p>
          <a:p>
            <a:pPr marL="0" marR="381000" indent="0" algn="l">
              <a:lnSpc>
                <a:spcPct val="115000"/>
              </a:lnSpc>
              <a:buClr>
                <a:schemeClr val="dk1"/>
              </a:buClr>
              <a:buSzPts val="852"/>
              <a:buFont typeface="Arial"/>
              <a:buNone/>
            </a:pPr>
            <a:r>
              <a:rPr lang="en-IN" sz="1800" dirty="0">
                <a:solidFill>
                  <a:srgbClr val="434343"/>
                </a:solidFill>
                <a:latin typeface="Lato Black"/>
                <a:ea typeface="Lato Black"/>
                <a:cs typeface="Lato Black"/>
                <a:sym typeface="Lato Black"/>
              </a:rPr>
              <a:t>Philip Ballentine</a:t>
            </a:r>
            <a:endParaRPr lang="en-IN" sz="21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311700" y="798242"/>
            <a:ext cx="8520600" cy="52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00" dirty="0">
                <a:solidFill>
                  <a:schemeClr val="dk1"/>
                </a:solidFill>
                <a:latin typeface="Montserrat Black"/>
                <a:ea typeface="Montserrat Black"/>
                <a:cs typeface="Montserrat Black"/>
                <a:sym typeface="Montserrat Black"/>
              </a:rPr>
              <a:t>Introduction</a:t>
            </a:r>
            <a:endParaRPr sz="2500" dirty="0">
              <a:solidFill>
                <a:schemeClr val="dk1"/>
              </a:solidFill>
              <a:latin typeface="Montserrat Black"/>
              <a:ea typeface="Montserrat Black"/>
              <a:cs typeface="Montserrat Black"/>
              <a:sym typeface="Montserrat Black"/>
            </a:endParaRPr>
          </a:p>
        </p:txBody>
      </p:sp>
      <p:sp>
        <p:nvSpPr>
          <p:cNvPr id="70" name="Google Shape;70;p14"/>
          <p:cNvSpPr txBox="1">
            <a:spLocks noGrp="1"/>
          </p:cNvSpPr>
          <p:nvPr>
            <p:ph type="body" idx="1"/>
          </p:nvPr>
        </p:nvSpPr>
        <p:spPr>
          <a:xfrm>
            <a:off x="311700" y="1436600"/>
            <a:ext cx="8520600" cy="3499500"/>
          </a:xfrm>
          <a:prstGeom prst="rect">
            <a:avLst/>
          </a:prstGeom>
        </p:spPr>
        <p:txBody>
          <a:bodyPr spcFirstLastPara="1" wrap="square" lIns="91425" tIns="91425" rIns="91425" bIns="91425" anchor="t" anchorCtr="0">
            <a:noAutofit/>
          </a:bodyPr>
          <a:lstStyle/>
          <a:p>
            <a:pPr marL="0" lvl="0" indent="0" rtl="0">
              <a:lnSpc>
                <a:spcPct val="150000"/>
              </a:lnSpc>
              <a:spcBef>
                <a:spcPts val="0"/>
              </a:spcBef>
              <a:spcAft>
                <a:spcPts val="0"/>
              </a:spcAft>
              <a:buNone/>
            </a:pPr>
            <a:r>
              <a:rPr lang="en" sz="1600" b="1" dirty="0">
                <a:solidFill>
                  <a:schemeClr val="accent3"/>
                </a:solidFill>
                <a:latin typeface="Lato" panose="020F0502020204030203" pitchFamily="34" charset="0"/>
                <a:ea typeface="Lato" panose="020F0502020204030203" pitchFamily="34" charset="0"/>
                <a:cs typeface="Lato" panose="020F0502020204030203" pitchFamily="34" charset="0"/>
                <a:sym typeface="Lato"/>
              </a:rPr>
              <a:t>Business Question:</a:t>
            </a:r>
            <a:endParaRPr lang="en-US" sz="1600" dirty="0">
              <a:solidFill>
                <a:srgbClr val="434343"/>
              </a:solidFill>
              <a:latin typeface="Lato" panose="020F0502020204030203" pitchFamily="34" charset="0"/>
              <a:ea typeface="Lato" panose="020F0502020204030203" pitchFamily="34" charset="0"/>
              <a:cs typeface="Lato" panose="020F0502020204030203" pitchFamily="34" charset="0"/>
              <a:sym typeface="Lato"/>
            </a:endParaRPr>
          </a:p>
          <a:p>
            <a:pPr marL="0" lvl="0" indent="0" rtl="0">
              <a:lnSpc>
                <a:spcPct val="150000"/>
              </a:lnSpc>
              <a:spcBef>
                <a:spcPts val="0"/>
              </a:spcBef>
              <a:spcAft>
                <a:spcPts val="0"/>
              </a:spcAft>
              <a:buNone/>
            </a:pPr>
            <a:r>
              <a:rPr lang="en-US" sz="1600" b="1" i="0" dirty="0">
                <a:effectLst/>
                <a:latin typeface="Lato" panose="020F0502020204030203" pitchFamily="34" charset="0"/>
                <a:ea typeface="Lato" panose="020F0502020204030203" pitchFamily="34" charset="0"/>
                <a:cs typeface="Lato" panose="020F0502020204030203" pitchFamily="34" charset="0"/>
              </a:rPr>
              <a:t>How can we leverage patient data to improve cardiovascular disease (CVD) risk assessment and management in our practice?</a:t>
            </a:r>
            <a:endParaRPr lang="en-US" sz="1600" b="1" dirty="0">
              <a:solidFill>
                <a:srgbClr val="434343"/>
              </a:solidFill>
              <a:latin typeface="Lato" panose="020F0502020204030203" pitchFamily="34" charset="0"/>
              <a:ea typeface="Lato" panose="020F0502020204030203" pitchFamily="34" charset="0"/>
              <a:cs typeface="Lato" panose="020F0502020204030203" pitchFamily="34" charset="0"/>
              <a:sym typeface="Lato"/>
            </a:endParaRPr>
          </a:p>
          <a:p>
            <a:pPr marL="0" lvl="0" indent="0" rtl="0">
              <a:lnSpc>
                <a:spcPct val="150000"/>
              </a:lnSpc>
              <a:spcBef>
                <a:spcPts val="0"/>
              </a:spcBef>
              <a:spcAft>
                <a:spcPts val="0"/>
              </a:spcAft>
              <a:buNone/>
            </a:pPr>
            <a:r>
              <a:rPr lang="en-US" sz="1600" b="1" dirty="0">
                <a:solidFill>
                  <a:schemeClr val="accent3"/>
                </a:solidFill>
                <a:latin typeface="Lato" panose="020F0502020204030203" pitchFamily="34" charset="0"/>
                <a:ea typeface="Lato" panose="020F0502020204030203" pitchFamily="34" charset="0"/>
                <a:cs typeface="Lato" panose="020F0502020204030203" pitchFamily="34" charset="0"/>
                <a:sym typeface="Lato"/>
              </a:rPr>
              <a:t>Why is this important?</a:t>
            </a:r>
            <a:endParaRPr lang="en-US" sz="1600" dirty="0">
              <a:solidFill>
                <a:srgbClr val="000000"/>
              </a:solidFill>
              <a:latin typeface="Lato" panose="020F0502020204030203" pitchFamily="34" charset="0"/>
              <a:ea typeface="Lato" panose="020F0502020204030203" pitchFamily="34" charset="0"/>
              <a:cs typeface="Lato" panose="020F0502020204030203" pitchFamily="34" charset="0"/>
              <a:sym typeface="Arial"/>
            </a:endParaRPr>
          </a:p>
          <a:p>
            <a:pPr marL="0" lvl="0" indent="0" rtl="0">
              <a:spcBef>
                <a:spcPts val="300"/>
              </a:spcBef>
              <a:spcAft>
                <a:spcPts val="0"/>
              </a:spcAft>
              <a:buNone/>
            </a:pPr>
            <a:r>
              <a:rPr lang="en-US" sz="1600" b="1" i="0" dirty="0">
                <a:effectLst/>
                <a:latin typeface="fkGroteskNeue"/>
              </a:rPr>
              <a:t>CVD is a leading cause of morbidity and mortality. Early identification and intervention can significantly improve patient outcomes and reduce healthcare costs.</a:t>
            </a:r>
          </a:p>
          <a:p>
            <a:pPr marL="0" lvl="0" indent="0" rtl="0">
              <a:spcBef>
                <a:spcPts val="300"/>
              </a:spcBef>
              <a:spcAft>
                <a:spcPts val="0"/>
              </a:spcAft>
              <a:buNone/>
            </a:pPr>
            <a:r>
              <a:rPr lang="en" sz="1600" b="1" dirty="0">
                <a:solidFill>
                  <a:schemeClr val="accent3"/>
                </a:solidFill>
                <a:latin typeface="Lato" panose="020F0502020204030203" pitchFamily="34" charset="0"/>
                <a:ea typeface="Lato" panose="020F0502020204030203" pitchFamily="34" charset="0"/>
                <a:cs typeface="Lato" panose="020F0502020204030203" pitchFamily="34" charset="0"/>
                <a:sym typeface="Lato"/>
              </a:rPr>
              <a:t>What is our goal?</a:t>
            </a:r>
            <a:endParaRPr lang="en-US" sz="1600" dirty="0">
              <a:solidFill>
                <a:srgbClr val="434343"/>
              </a:solidFill>
              <a:latin typeface="Lato" panose="020F0502020204030203" pitchFamily="34" charset="0"/>
              <a:ea typeface="Lato" panose="020F0502020204030203" pitchFamily="34" charset="0"/>
              <a:cs typeface="Lato" panose="020F0502020204030203" pitchFamily="34" charset="0"/>
              <a:sym typeface="Lato"/>
            </a:endParaRPr>
          </a:p>
          <a:p>
            <a:pPr marL="0" lvl="0" indent="0" rtl="0">
              <a:lnSpc>
                <a:spcPct val="150000"/>
              </a:lnSpc>
              <a:spcBef>
                <a:spcPts val="0"/>
              </a:spcBef>
              <a:spcAft>
                <a:spcPts val="1200"/>
              </a:spcAft>
              <a:buNone/>
            </a:pPr>
            <a:r>
              <a:rPr lang="en-US" sz="1600" b="1" dirty="0">
                <a:latin typeface="Lato" panose="020F0502020204030203" pitchFamily="34" charset="0"/>
                <a:ea typeface="Lato" panose="020F0502020204030203" pitchFamily="34" charset="0"/>
                <a:cs typeface="Lato" panose="020F0502020204030203" pitchFamily="34" charset="0"/>
              </a:rPr>
              <a:t>To create data-driven tactics that improve patient health outcomes, facilitate tailored therapies, and strengthen CVD risk assessment.</a:t>
            </a:r>
          </a:p>
        </p:txBody>
      </p:sp>
      <p:sp>
        <p:nvSpPr>
          <p:cNvPr id="71" name="Google Shape;71;p14"/>
          <p:cNvSpPr/>
          <p:nvPr/>
        </p:nvSpPr>
        <p:spPr>
          <a:xfrm>
            <a:off x="0" y="0"/>
            <a:ext cx="9144000" cy="685200"/>
          </a:xfrm>
          <a:prstGeom prst="rect">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E9EDEE"/>
              </a:solidFill>
              <a:latin typeface="Lato"/>
              <a:ea typeface="Lato"/>
              <a:cs typeface="Lato"/>
              <a:sym typeface="Lato"/>
            </a:endParaRPr>
          </a:p>
        </p:txBody>
      </p:sp>
      <p:grpSp>
        <p:nvGrpSpPr>
          <p:cNvPr id="72" name="Google Shape;72;p14"/>
          <p:cNvGrpSpPr/>
          <p:nvPr/>
        </p:nvGrpSpPr>
        <p:grpSpPr>
          <a:xfrm>
            <a:off x="311709" y="642158"/>
            <a:ext cx="862939" cy="43053"/>
            <a:chOff x="540118" y="292850"/>
            <a:chExt cx="817332" cy="64200"/>
          </a:xfrm>
        </p:grpSpPr>
        <p:sp>
          <p:nvSpPr>
            <p:cNvPr id="73" name="Google Shape;73;p14"/>
            <p:cNvSpPr/>
            <p:nvPr/>
          </p:nvSpPr>
          <p:spPr>
            <a:xfrm rot="10800000">
              <a:off x="540118" y="292850"/>
              <a:ext cx="408600" cy="642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4" name="Google Shape;74;p14"/>
            <p:cNvSpPr/>
            <p:nvPr/>
          </p:nvSpPr>
          <p:spPr>
            <a:xfrm rot="10800000">
              <a:off x="948850" y="292850"/>
              <a:ext cx="408600" cy="64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311700" y="811825"/>
            <a:ext cx="8520600" cy="49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00" dirty="0">
                <a:solidFill>
                  <a:schemeClr val="dk1"/>
                </a:solidFill>
                <a:latin typeface="Montserrat Black"/>
                <a:ea typeface="Montserrat Black"/>
                <a:cs typeface="Montserrat Black"/>
                <a:sym typeface="Montserrat Black"/>
              </a:rPr>
              <a:t>Data Selection and Rationale</a:t>
            </a:r>
            <a:endParaRPr sz="2500" dirty="0">
              <a:solidFill>
                <a:schemeClr val="dk1"/>
              </a:solidFill>
              <a:latin typeface="Montserrat Black"/>
              <a:ea typeface="Montserrat Black"/>
              <a:cs typeface="Montserrat Black"/>
              <a:sym typeface="Montserrat Black"/>
            </a:endParaRPr>
          </a:p>
        </p:txBody>
      </p:sp>
      <p:sp>
        <p:nvSpPr>
          <p:cNvPr id="80" name="Google Shape;80;p15"/>
          <p:cNvSpPr txBox="1">
            <a:spLocks noGrp="1"/>
          </p:cNvSpPr>
          <p:nvPr>
            <p:ph type="body" idx="1"/>
          </p:nvPr>
        </p:nvSpPr>
        <p:spPr>
          <a:xfrm>
            <a:off x="311700" y="1432850"/>
            <a:ext cx="6926400" cy="3136200"/>
          </a:xfrm>
          <a:prstGeom prst="rect">
            <a:avLst/>
          </a:prstGeom>
        </p:spPr>
        <p:txBody>
          <a:bodyPr spcFirstLastPara="1" wrap="square" lIns="91425" tIns="91425" rIns="91425" bIns="91425" anchor="t" anchorCtr="0">
            <a:noAutofit/>
          </a:bodyPr>
          <a:lstStyle/>
          <a:p>
            <a:pPr marL="0" lvl="0" indent="0" algn="l" rtl="0">
              <a:spcBef>
                <a:spcPts val="300"/>
              </a:spcBef>
              <a:spcAft>
                <a:spcPts val="0"/>
              </a:spcAft>
              <a:buNone/>
            </a:pPr>
            <a:r>
              <a:rPr lang="en" sz="1500" b="1" dirty="0">
                <a:solidFill>
                  <a:srgbClr val="EB5600"/>
                </a:solidFill>
                <a:latin typeface="Lato" panose="020F0502020204030203" pitchFamily="34" charset="0"/>
                <a:ea typeface="Lato" panose="020F0502020204030203" pitchFamily="34" charset="0"/>
                <a:cs typeface="Lato" panose="020F0502020204030203" pitchFamily="34" charset="0"/>
                <a:sym typeface="Arial"/>
              </a:rPr>
              <a:t>Comprehensive Dataset:</a:t>
            </a:r>
            <a:r>
              <a:rPr lang="en" sz="1500" b="1" dirty="0">
                <a:solidFill>
                  <a:srgbClr val="000000"/>
                </a:solidFill>
                <a:latin typeface="Lato" panose="020F0502020204030203" pitchFamily="34" charset="0"/>
                <a:ea typeface="Lato" panose="020F0502020204030203" pitchFamily="34" charset="0"/>
                <a:cs typeface="Lato" panose="020F0502020204030203" pitchFamily="34" charset="0"/>
                <a:sym typeface="Arial"/>
              </a:rPr>
              <a:t> </a:t>
            </a:r>
            <a:r>
              <a:rPr lang="en-US" sz="1500" b="1" i="0" dirty="0">
                <a:solidFill>
                  <a:schemeClr val="tx2">
                    <a:lumMod val="50000"/>
                  </a:schemeClr>
                </a:solidFill>
                <a:effectLst/>
                <a:latin typeface="Lato" panose="020F0502020204030203" pitchFamily="34" charset="0"/>
                <a:ea typeface="Lato" panose="020F0502020204030203" pitchFamily="34" charset="0"/>
                <a:cs typeface="Lato" panose="020F0502020204030203" pitchFamily="34" charset="0"/>
              </a:rPr>
              <a:t>The dataset includes 500 patient records with demographic information, medical history (hypertension, diabetes), lifestyle factors (smoking, BMI), and key clinical measurements (cholesterol, blood pressure). Starting with row 192621, the gender shifts from male to female.</a:t>
            </a:r>
            <a:endParaRPr sz="1500" b="1" dirty="0">
              <a:solidFill>
                <a:schemeClr val="tx2">
                  <a:lumMod val="50000"/>
                </a:schemeClr>
              </a:solidFill>
              <a:latin typeface="Lato" panose="020F0502020204030203" pitchFamily="34" charset="0"/>
              <a:ea typeface="Lato" panose="020F0502020204030203" pitchFamily="34" charset="0"/>
              <a:cs typeface="Lato" panose="020F0502020204030203" pitchFamily="34" charset="0"/>
              <a:sym typeface="Arial"/>
            </a:endParaRPr>
          </a:p>
          <a:p>
            <a:pPr marL="0" lvl="0" indent="0" algn="l" rtl="0">
              <a:spcBef>
                <a:spcPts val="300"/>
              </a:spcBef>
              <a:spcAft>
                <a:spcPts val="0"/>
              </a:spcAft>
              <a:buNone/>
            </a:pPr>
            <a:r>
              <a:rPr lang="en" sz="1500" b="1" dirty="0">
                <a:solidFill>
                  <a:srgbClr val="EB5600"/>
                </a:solidFill>
                <a:latin typeface="Lato" panose="020F0502020204030203" pitchFamily="34" charset="0"/>
                <a:ea typeface="Lato" panose="020F0502020204030203" pitchFamily="34" charset="0"/>
                <a:cs typeface="Lato" panose="020F0502020204030203" pitchFamily="34" charset="0"/>
                <a:sym typeface="Arial"/>
              </a:rPr>
              <a:t>Rationale for Selection:</a:t>
            </a:r>
            <a:r>
              <a:rPr lang="en" sz="1500" b="1" dirty="0">
                <a:solidFill>
                  <a:srgbClr val="000000"/>
                </a:solidFill>
                <a:latin typeface="Lato" panose="020F0502020204030203" pitchFamily="34" charset="0"/>
                <a:ea typeface="Lato" panose="020F0502020204030203" pitchFamily="34" charset="0"/>
                <a:cs typeface="Lato" panose="020F0502020204030203" pitchFamily="34" charset="0"/>
                <a:sym typeface="Arial"/>
              </a:rPr>
              <a:t> </a:t>
            </a:r>
            <a:r>
              <a:rPr lang="en-US" sz="1500" b="1" dirty="0">
                <a:solidFill>
                  <a:schemeClr val="tx2">
                    <a:lumMod val="50000"/>
                  </a:schemeClr>
                </a:solidFill>
                <a:latin typeface="Lato" panose="020F0502020204030203" pitchFamily="34" charset="0"/>
                <a:ea typeface="Lato" panose="020F0502020204030203" pitchFamily="34" charset="0"/>
                <a:cs typeface="Lato" panose="020F0502020204030203" pitchFamily="34" charset="0"/>
                <a:sym typeface="Arial"/>
              </a:rPr>
              <a:t>The information enables us to investigate the correlations between these characteristics, which are recognized risk factors for CVD, and to pinpoint patient subgroups who are at high risk. We may examine possible variations in risk profiles between males and females if we acknowledge the gender change.</a:t>
            </a:r>
            <a:endParaRPr lang="en" sz="1500" b="1" dirty="0">
              <a:solidFill>
                <a:schemeClr val="tx2">
                  <a:lumMod val="50000"/>
                </a:schemeClr>
              </a:solidFill>
              <a:latin typeface="Lato" panose="020F0502020204030203" pitchFamily="34" charset="0"/>
              <a:ea typeface="Lato" panose="020F0502020204030203" pitchFamily="34" charset="0"/>
              <a:cs typeface="Lato" panose="020F0502020204030203" pitchFamily="34" charset="0"/>
              <a:sym typeface="Arial"/>
            </a:endParaRPr>
          </a:p>
          <a:p>
            <a:pPr marL="0" lvl="0" indent="0" algn="l" rtl="0">
              <a:spcBef>
                <a:spcPts val="300"/>
              </a:spcBef>
              <a:spcAft>
                <a:spcPts val="0"/>
              </a:spcAft>
              <a:buNone/>
            </a:pPr>
            <a:r>
              <a:rPr lang="en" sz="1500" b="1" dirty="0">
                <a:solidFill>
                  <a:schemeClr val="accent3"/>
                </a:solidFill>
                <a:latin typeface="Lato" panose="020F0502020204030203" pitchFamily="34" charset="0"/>
                <a:ea typeface="Lato" panose="020F0502020204030203" pitchFamily="34" charset="0"/>
                <a:cs typeface="Lato" panose="020F0502020204030203" pitchFamily="34" charset="0"/>
                <a:sym typeface="Lato"/>
              </a:rPr>
              <a:t>The dataset is retrieved from: </a:t>
            </a:r>
            <a:r>
              <a:rPr lang="en-IN" sz="1500" dirty="0">
                <a:solidFill>
                  <a:srgbClr val="434343"/>
                </a:solidFill>
                <a:latin typeface="Lato" panose="020F0502020204030203" pitchFamily="34" charset="0"/>
                <a:ea typeface="Lato" panose="020F0502020204030203" pitchFamily="34" charset="0"/>
                <a:cs typeface="Lato" panose="020F0502020204030203" pitchFamily="34" charset="0"/>
                <a:sym typeface="Lato"/>
                <a:hlinkClick r:id="rId3"/>
              </a:rPr>
              <a:t>https://figshare.com/articles/dataset/CVD_Risk_Prediction_Synthetic_Dataset/5439991?file=9399457</a:t>
            </a:r>
            <a:endParaRPr sz="1500" dirty="0">
              <a:solidFill>
                <a:srgbClr val="434343"/>
              </a:solidFill>
              <a:latin typeface="Lato" panose="020F0502020204030203" pitchFamily="34" charset="0"/>
              <a:ea typeface="Lato" panose="020F0502020204030203" pitchFamily="34" charset="0"/>
              <a:cs typeface="Lato" panose="020F0502020204030203" pitchFamily="34" charset="0"/>
              <a:sym typeface="Lato"/>
            </a:endParaRPr>
          </a:p>
        </p:txBody>
      </p:sp>
      <p:sp>
        <p:nvSpPr>
          <p:cNvPr id="81" name="Google Shape;81;p15"/>
          <p:cNvSpPr/>
          <p:nvPr/>
        </p:nvSpPr>
        <p:spPr>
          <a:xfrm>
            <a:off x="0" y="0"/>
            <a:ext cx="9144000" cy="685200"/>
          </a:xfrm>
          <a:prstGeom prst="rect">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E9EDEE"/>
              </a:solidFill>
              <a:latin typeface="Lato"/>
              <a:ea typeface="Lato"/>
              <a:cs typeface="Lato"/>
              <a:sym typeface="Lato"/>
            </a:endParaRPr>
          </a:p>
        </p:txBody>
      </p:sp>
      <p:grpSp>
        <p:nvGrpSpPr>
          <p:cNvPr id="82" name="Google Shape;82;p15"/>
          <p:cNvGrpSpPr/>
          <p:nvPr/>
        </p:nvGrpSpPr>
        <p:grpSpPr>
          <a:xfrm>
            <a:off x="311709" y="642158"/>
            <a:ext cx="862939" cy="43053"/>
            <a:chOff x="540118" y="292850"/>
            <a:chExt cx="817332" cy="64200"/>
          </a:xfrm>
        </p:grpSpPr>
        <p:sp>
          <p:nvSpPr>
            <p:cNvPr id="83" name="Google Shape;83;p15"/>
            <p:cNvSpPr/>
            <p:nvPr/>
          </p:nvSpPr>
          <p:spPr>
            <a:xfrm rot="10800000">
              <a:off x="540118" y="292850"/>
              <a:ext cx="408600" cy="642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4" name="Google Shape;84;p15"/>
            <p:cNvSpPr/>
            <p:nvPr/>
          </p:nvSpPr>
          <p:spPr>
            <a:xfrm rot="10800000">
              <a:off x="948850" y="292850"/>
              <a:ext cx="408600" cy="64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pic>
        <p:nvPicPr>
          <p:cNvPr id="85" name="Google Shape;85;p15"/>
          <p:cNvPicPr preferRelativeResize="0"/>
          <p:nvPr/>
        </p:nvPicPr>
        <p:blipFill>
          <a:blip r:embed="rId4">
            <a:alphaModFix/>
          </a:blip>
          <a:stretch>
            <a:fillRect/>
          </a:stretch>
        </p:blipFill>
        <p:spPr>
          <a:xfrm>
            <a:off x="7105575" y="2571750"/>
            <a:ext cx="1905800" cy="1997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419F97F0-38A1-3D0B-E203-7B0852602580}"/>
            </a:ext>
          </a:extLst>
        </p:cNvPr>
        <p:cNvGrpSpPr/>
        <p:nvPr/>
      </p:nvGrpSpPr>
      <p:grpSpPr>
        <a:xfrm>
          <a:off x="0" y="0"/>
          <a:ext cx="0" cy="0"/>
          <a:chOff x="0" y="0"/>
          <a:chExt cx="0" cy="0"/>
        </a:xfrm>
      </p:grpSpPr>
      <p:sp>
        <p:nvSpPr>
          <p:cNvPr id="79" name="Google Shape;79;p15">
            <a:extLst>
              <a:ext uri="{FF2B5EF4-FFF2-40B4-BE49-F238E27FC236}">
                <a16:creationId xmlns:a16="http://schemas.microsoft.com/office/drawing/2014/main" id="{2A3F0E5A-09D7-B595-2EAE-20DF6B1B8AE5}"/>
              </a:ext>
            </a:extLst>
          </p:cNvPr>
          <p:cNvSpPr txBox="1">
            <a:spLocks noGrp="1"/>
          </p:cNvSpPr>
          <p:nvPr>
            <p:ph type="title"/>
          </p:nvPr>
        </p:nvSpPr>
        <p:spPr>
          <a:xfrm>
            <a:off x="311700" y="811825"/>
            <a:ext cx="8520600" cy="49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00" dirty="0">
                <a:solidFill>
                  <a:schemeClr val="dk1"/>
                </a:solidFill>
                <a:latin typeface="Montserrat Black"/>
                <a:ea typeface="Montserrat Black"/>
                <a:cs typeface="Montserrat Black"/>
                <a:sym typeface="Montserrat Black"/>
              </a:rPr>
              <a:t>Section 1: Problem</a:t>
            </a:r>
            <a:endParaRPr sz="2500" dirty="0">
              <a:solidFill>
                <a:schemeClr val="dk1"/>
              </a:solidFill>
              <a:latin typeface="Montserrat Black"/>
              <a:ea typeface="Montserrat Black"/>
              <a:cs typeface="Montserrat Black"/>
              <a:sym typeface="Montserrat Black"/>
            </a:endParaRPr>
          </a:p>
        </p:txBody>
      </p:sp>
      <p:sp>
        <p:nvSpPr>
          <p:cNvPr id="80" name="Google Shape;80;p15">
            <a:extLst>
              <a:ext uri="{FF2B5EF4-FFF2-40B4-BE49-F238E27FC236}">
                <a16:creationId xmlns:a16="http://schemas.microsoft.com/office/drawing/2014/main" id="{A93B2654-3F64-C4B4-2322-8A9DC0A309E7}"/>
              </a:ext>
            </a:extLst>
          </p:cNvPr>
          <p:cNvSpPr txBox="1">
            <a:spLocks noGrp="1"/>
          </p:cNvSpPr>
          <p:nvPr>
            <p:ph type="body" idx="1"/>
          </p:nvPr>
        </p:nvSpPr>
        <p:spPr>
          <a:xfrm>
            <a:off x="311700" y="1530161"/>
            <a:ext cx="6926400" cy="3136200"/>
          </a:xfrm>
          <a:prstGeom prst="rect">
            <a:avLst/>
          </a:prstGeom>
        </p:spPr>
        <p:txBody>
          <a:bodyPr spcFirstLastPara="1" wrap="square" lIns="91425" tIns="91425" rIns="91425" bIns="91425" anchor="t" anchorCtr="0">
            <a:noAutofit/>
          </a:bodyPr>
          <a:lstStyle/>
          <a:p>
            <a:pPr marL="0" lvl="0" indent="0" rtl="0">
              <a:lnSpc>
                <a:spcPct val="150000"/>
              </a:lnSpc>
              <a:spcBef>
                <a:spcPts val="0"/>
              </a:spcBef>
              <a:spcAft>
                <a:spcPts val="0"/>
              </a:spcAft>
              <a:buNone/>
            </a:pPr>
            <a:r>
              <a:rPr lang="en" sz="1400" b="1" dirty="0">
                <a:solidFill>
                  <a:schemeClr val="accent3"/>
                </a:solidFill>
                <a:latin typeface="Lato" panose="020F0502020204030203" pitchFamily="34" charset="0"/>
                <a:ea typeface="Lato" panose="020F0502020204030203" pitchFamily="34" charset="0"/>
                <a:cs typeface="Lato" panose="020F0502020204030203" pitchFamily="34" charset="0"/>
                <a:sym typeface="Lato"/>
              </a:rPr>
              <a:t>Problem Statement: </a:t>
            </a:r>
            <a:r>
              <a:rPr lang="en-US" sz="1400" b="1" dirty="0">
                <a:solidFill>
                  <a:schemeClr val="tx2">
                    <a:lumMod val="50000"/>
                  </a:schemeClr>
                </a:solidFill>
                <a:latin typeface="Lato" panose="020F0502020204030203" pitchFamily="34" charset="0"/>
                <a:ea typeface="Lato" panose="020F0502020204030203" pitchFamily="34" charset="0"/>
                <a:cs typeface="Lato" panose="020F0502020204030203" pitchFamily="34" charset="0"/>
                <a:sym typeface="Lato"/>
              </a:rPr>
              <a:t>The functioning of the healthcare system and patient health are greatly impacted by cardiovascular disease (CVD), which continues to be a major source of morbidity and mortality. Understanding how different risk variables (age, hypertension, BMI, cholesterol, and smoking) interact with the occurrence of CVD among demographic groups is a crucial knowledge gap. Finding these trends would help a clinic or doctor's office implement more focused preventative and treatment plans.</a:t>
            </a:r>
          </a:p>
          <a:p>
            <a:pPr marL="0" lvl="0" indent="0" rtl="0">
              <a:lnSpc>
                <a:spcPct val="150000"/>
              </a:lnSpc>
              <a:spcBef>
                <a:spcPts val="0"/>
              </a:spcBef>
              <a:spcAft>
                <a:spcPts val="0"/>
              </a:spcAft>
              <a:buNone/>
            </a:pPr>
            <a:r>
              <a:rPr lang="en-US" sz="1400" b="1" dirty="0">
                <a:solidFill>
                  <a:schemeClr val="accent3"/>
                </a:solidFill>
                <a:latin typeface="Lato" panose="020F0502020204030203" pitchFamily="34" charset="0"/>
                <a:ea typeface="Lato" panose="020F0502020204030203" pitchFamily="34" charset="0"/>
                <a:cs typeface="Lato" panose="020F0502020204030203" pitchFamily="34" charset="0"/>
                <a:sym typeface="Lato"/>
              </a:rPr>
              <a:t>Narrow Scope: </a:t>
            </a:r>
            <a:r>
              <a:rPr lang="en-US" sz="1400" b="1" dirty="0">
                <a:solidFill>
                  <a:schemeClr val="tx2">
                    <a:lumMod val="50000"/>
                  </a:schemeClr>
                </a:solidFill>
                <a:latin typeface="Lato" panose="020F0502020204030203" pitchFamily="34" charset="0"/>
                <a:ea typeface="Lato" panose="020F0502020204030203" pitchFamily="34" charset="0"/>
                <a:cs typeface="Lato" panose="020F0502020204030203" pitchFamily="34" charset="0"/>
                <a:sym typeface="Lato"/>
              </a:rPr>
              <a:t>The goal of this study is to uncover important risk factors for adult cardiovascular disease by evaluating patient data from a general practice. Finding the connections between modifiable risk variables and CVD status will be the main goal.</a:t>
            </a:r>
          </a:p>
          <a:p>
            <a:pPr marL="0" lvl="0" indent="0" rtl="0">
              <a:lnSpc>
                <a:spcPct val="150000"/>
              </a:lnSpc>
              <a:spcBef>
                <a:spcPts val="0"/>
              </a:spcBef>
              <a:spcAft>
                <a:spcPts val="0"/>
              </a:spcAft>
              <a:buNone/>
            </a:pPr>
            <a:endParaRPr lang="en-US" sz="1400" b="1" dirty="0">
              <a:solidFill>
                <a:schemeClr val="accent3"/>
              </a:solidFill>
              <a:latin typeface="Lato" panose="020F0502020204030203" pitchFamily="34" charset="0"/>
              <a:ea typeface="Lato" panose="020F0502020204030203" pitchFamily="34" charset="0"/>
              <a:cs typeface="Lato" panose="020F0502020204030203" pitchFamily="34" charset="0"/>
              <a:sym typeface="Lato"/>
            </a:endParaRPr>
          </a:p>
          <a:p>
            <a:pPr marL="0" lvl="0" indent="0" rtl="0">
              <a:lnSpc>
                <a:spcPct val="150000"/>
              </a:lnSpc>
              <a:spcBef>
                <a:spcPts val="0"/>
              </a:spcBef>
              <a:spcAft>
                <a:spcPts val="0"/>
              </a:spcAft>
              <a:buNone/>
            </a:pPr>
            <a:endParaRPr lang="en-US" sz="1400" b="1" dirty="0">
              <a:solidFill>
                <a:srgbClr val="434343"/>
              </a:solidFill>
              <a:latin typeface="Lato" panose="020F0502020204030203" pitchFamily="34" charset="0"/>
              <a:ea typeface="Lato" panose="020F0502020204030203" pitchFamily="34" charset="0"/>
              <a:cs typeface="Lato" panose="020F0502020204030203" pitchFamily="34" charset="0"/>
              <a:sym typeface="Lato"/>
            </a:endParaRPr>
          </a:p>
        </p:txBody>
      </p:sp>
      <p:sp>
        <p:nvSpPr>
          <p:cNvPr id="81" name="Google Shape;81;p15">
            <a:extLst>
              <a:ext uri="{FF2B5EF4-FFF2-40B4-BE49-F238E27FC236}">
                <a16:creationId xmlns:a16="http://schemas.microsoft.com/office/drawing/2014/main" id="{5D2C82ED-F223-1D38-4FDB-EFEC2D58F3E3}"/>
              </a:ext>
            </a:extLst>
          </p:cNvPr>
          <p:cNvSpPr/>
          <p:nvPr/>
        </p:nvSpPr>
        <p:spPr>
          <a:xfrm>
            <a:off x="0" y="0"/>
            <a:ext cx="9144000" cy="685200"/>
          </a:xfrm>
          <a:prstGeom prst="rect">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E9EDEE"/>
              </a:solidFill>
              <a:latin typeface="Lato"/>
              <a:ea typeface="Lato"/>
              <a:cs typeface="Lato"/>
              <a:sym typeface="Lato"/>
            </a:endParaRPr>
          </a:p>
        </p:txBody>
      </p:sp>
      <p:grpSp>
        <p:nvGrpSpPr>
          <p:cNvPr id="82" name="Google Shape;82;p15">
            <a:extLst>
              <a:ext uri="{FF2B5EF4-FFF2-40B4-BE49-F238E27FC236}">
                <a16:creationId xmlns:a16="http://schemas.microsoft.com/office/drawing/2014/main" id="{E597C2DA-E11C-E9C7-1ADC-974109E1E1BE}"/>
              </a:ext>
            </a:extLst>
          </p:cNvPr>
          <p:cNvGrpSpPr/>
          <p:nvPr/>
        </p:nvGrpSpPr>
        <p:grpSpPr>
          <a:xfrm>
            <a:off x="311709" y="642158"/>
            <a:ext cx="862939" cy="43053"/>
            <a:chOff x="540118" y="292850"/>
            <a:chExt cx="817332" cy="64200"/>
          </a:xfrm>
        </p:grpSpPr>
        <p:sp>
          <p:nvSpPr>
            <p:cNvPr id="83" name="Google Shape;83;p15">
              <a:extLst>
                <a:ext uri="{FF2B5EF4-FFF2-40B4-BE49-F238E27FC236}">
                  <a16:creationId xmlns:a16="http://schemas.microsoft.com/office/drawing/2014/main" id="{C206F02C-7E0A-5073-ED4A-7460A947ACCB}"/>
                </a:ext>
              </a:extLst>
            </p:cNvPr>
            <p:cNvSpPr/>
            <p:nvPr/>
          </p:nvSpPr>
          <p:spPr>
            <a:xfrm rot="10800000">
              <a:off x="540118" y="292850"/>
              <a:ext cx="408600" cy="642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4" name="Google Shape;84;p15">
              <a:extLst>
                <a:ext uri="{FF2B5EF4-FFF2-40B4-BE49-F238E27FC236}">
                  <a16:creationId xmlns:a16="http://schemas.microsoft.com/office/drawing/2014/main" id="{03855B1A-A906-0084-618D-61DB34A7BA39}"/>
                </a:ext>
              </a:extLst>
            </p:cNvPr>
            <p:cNvSpPr/>
            <p:nvPr/>
          </p:nvSpPr>
          <p:spPr>
            <a:xfrm rot="10800000">
              <a:off x="948850" y="292850"/>
              <a:ext cx="408600" cy="64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pic>
        <p:nvPicPr>
          <p:cNvPr id="85" name="Google Shape;85;p15">
            <a:extLst>
              <a:ext uri="{FF2B5EF4-FFF2-40B4-BE49-F238E27FC236}">
                <a16:creationId xmlns:a16="http://schemas.microsoft.com/office/drawing/2014/main" id="{DEE99F0A-FFEC-1925-4652-483816FDBFE3}"/>
              </a:ext>
            </a:extLst>
          </p:cNvPr>
          <p:cNvPicPr preferRelativeResize="0"/>
          <p:nvPr/>
        </p:nvPicPr>
        <p:blipFill>
          <a:blip r:embed="rId3">
            <a:alphaModFix/>
          </a:blip>
          <a:stretch>
            <a:fillRect/>
          </a:stretch>
        </p:blipFill>
        <p:spPr>
          <a:xfrm>
            <a:off x="7105575" y="2571750"/>
            <a:ext cx="1905800" cy="1997300"/>
          </a:xfrm>
          <a:prstGeom prst="rect">
            <a:avLst/>
          </a:prstGeom>
          <a:noFill/>
          <a:ln>
            <a:noFill/>
          </a:ln>
        </p:spPr>
      </p:pic>
    </p:spTree>
    <p:extLst>
      <p:ext uri="{BB962C8B-B14F-4D97-AF65-F5344CB8AC3E}">
        <p14:creationId xmlns:p14="http://schemas.microsoft.com/office/powerpoint/2010/main" val="3905819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7"/>
          <p:cNvSpPr txBox="1">
            <a:spLocks noGrp="1"/>
          </p:cNvSpPr>
          <p:nvPr>
            <p:ph type="title"/>
          </p:nvPr>
        </p:nvSpPr>
        <p:spPr>
          <a:xfrm>
            <a:off x="311700" y="827928"/>
            <a:ext cx="8520600" cy="685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IN" sz="2500" dirty="0">
                <a:solidFill>
                  <a:schemeClr val="dk1"/>
                </a:solidFill>
                <a:latin typeface="Montserrat Black"/>
                <a:ea typeface="Montserrat Black"/>
                <a:cs typeface="Montserrat Black"/>
                <a:sym typeface="Montserrat Black"/>
              </a:rPr>
              <a:t>Specific Problems To Address</a:t>
            </a:r>
            <a:endParaRPr sz="2500" dirty="0">
              <a:solidFill>
                <a:schemeClr val="dk1"/>
              </a:solidFill>
              <a:latin typeface="Montserrat Black"/>
              <a:ea typeface="Montserrat Black"/>
              <a:cs typeface="Montserrat Black"/>
              <a:sym typeface="Montserrat Black"/>
            </a:endParaRPr>
          </a:p>
        </p:txBody>
      </p:sp>
      <p:sp>
        <p:nvSpPr>
          <p:cNvPr id="103" name="Google Shape;103;p17"/>
          <p:cNvSpPr/>
          <p:nvPr/>
        </p:nvSpPr>
        <p:spPr>
          <a:xfrm>
            <a:off x="0" y="0"/>
            <a:ext cx="9144000" cy="685200"/>
          </a:xfrm>
          <a:prstGeom prst="rect">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E9EDEE"/>
              </a:solidFill>
              <a:latin typeface="Lato"/>
              <a:ea typeface="Lato"/>
              <a:cs typeface="Lato"/>
              <a:sym typeface="Lato"/>
            </a:endParaRPr>
          </a:p>
        </p:txBody>
      </p:sp>
      <p:grpSp>
        <p:nvGrpSpPr>
          <p:cNvPr id="104" name="Google Shape;104;p17"/>
          <p:cNvGrpSpPr/>
          <p:nvPr/>
        </p:nvGrpSpPr>
        <p:grpSpPr>
          <a:xfrm>
            <a:off x="311709" y="642158"/>
            <a:ext cx="862939" cy="43053"/>
            <a:chOff x="540118" y="292850"/>
            <a:chExt cx="817332" cy="64200"/>
          </a:xfrm>
        </p:grpSpPr>
        <p:sp>
          <p:nvSpPr>
            <p:cNvPr id="105" name="Google Shape;105;p17"/>
            <p:cNvSpPr/>
            <p:nvPr/>
          </p:nvSpPr>
          <p:spPr>
            <a:xfrm rot="10800000">
              <a:off x="540118" y="292850"/>
              <a:ext cx="408600" cy="642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6" name="Google Shape;106;p17"/>
            <p:cNvSpPr/>
            <p:nvPr/>
          </p:nvSpPr>
          <p:spPr>
            <a:xfrm rot="10800000">
              <a:off x="948850" y="292850"/>
              <a:ext cx="408600" cy="64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3" name="Text Placeholder 2">
            <a:extLst>
              <a:ext uri="{FF2B5EF4-FFF2-40B4-BE49-F238E27FC236}">
                <a16:creationId xmlns:a16="http://schemas.microsoft.com/office/drawing/2014/main" id="{D95AF741-C899-3D90-F32A-27419667357B}"/>
              </a:ext>
            </a:extLst>
          </p:cNvPr>
          <p:cNvSpPr>
            <a:spLocks noGrp="1"/>
          </p:cNvSpPr>
          <p:nvPr>
            <p:ph type="body" idx="1"/>
          </p:nvPr>
        </p:nvSpPr>
        <p:spPr>
          <a:xfrm>
            <a:off x="311700" y="1575038"/>
            <a:ext cx="8520600" cy="3416400"/>
          </a:xfrm>
        </p:spPr>
        <p:txBody>
          <a:bodyPr>
            <a:normAutofit lnSpcReduction="10000"/>
          </a:bodyPr>
          <a:lstStyle/>
          <a:p>
            <a:r>
              <a:rPr lang="en-US" sz="1600" b="1" dirty="0">
                <a:solidFill>
                  <a:schemeClr val="accent3"/>
                </a:solidFill>
                <a:latin typeface="Lato" panose="020F0502020204030203" pitchFamily="34" charset="0"/>
                <a:ea typeface="Lato" panose="020F0502020204030203" pitchFamily="34" charset="0"/>
                <a:cs typeface="Lato" panose="020F0502020204030203" pitchFamily="34" charset="0"/>
              </a:rPr>
              <a:t>Prevalence Analysis: </a:t>
            </a:r>
            <a:r>
              <a:rPr lang="en-US" sz="1600" b="1" dirty="0">
                <a:solidFill>
                  <a:schemeClr val="tx2">
                    <a:lumMod val="50000"/>
                  </a:schemeClr>
                </a:solidFill>
                <a:latin typeface="Lato" panose="020F0502020204030203" pitchFamily="34" charset="0"/>
                <a:ea typeface="Lato" panose="020F0502020204030203" pitchFamily="34" charset="0"/>
                <a:cs typeface="Lato" panose="020F0502020204030203" pitchFamily="34" charset="0"/>
              </a:rPr>
              <a:t>How common are smoking, high cholesterol, diabetes, and hypertension in the patient population across all age groups?</a:t>
            </a:r>
            <a:endParaRPr lang="en-US" sz="1600" b="1" dirty="0">
              <a:solidFill>
                <a:schemeClr val="accent3"/>
              </a:solidFill>
              <a:latin typeface="Lato" panose="020F0502020204030203" pitchFamily="34" charset="0"/>
              <a:ea typeface="Lato" panose="020F0502020204030203" pitchFamily="34" charset="0"/>
              <a:cs typeface="Lato" panose="020F0502020204030203" pitchFamily="34" charset="0"/>
            </a:endParaRPr>
          </a:p>
          <a:p>
            <a:r>
              <a:rPr lang="en-US" sz="1600" b="1" dirty="0">
                <a:solidFill>
                  <a:schemeClr val="accent3"/>
                </a:solidFill>
                <a:latin typeface="Lato" panose="020F0502020204030203" pitchFamily="34" charset="0"/>
                <a:ea typeface="Lato" panose="020F0502020204030203" pitchFamily="34" charset="0"/>
                <a:cs typeface="Lato" panose="020F0502020204030203" pitchFamily="34" charset="0"/>
              </a:rPr>
              <a:t>Risk Factor Identification: </a:t>
            </a:r>
            <a:r>
              <a:rPr lang="en-US" sz="1600" b="1" dirty="0">
                <a:solidFill>
                  <a:schemeClr val="tx2">
                    <a:lumMod val="50000"/>
                  </a:schemeClr>
                </a:solidFill>
                <a:latin typeface="Lato" panose="020F0502020204030203" pitchFamily="34" charset="0"/>
                <a:ea typeface="Lato" panose="020F0502020204030203" pitchFamily="34" charset="0"/>
                <a:cs typeface="Lato" panose="020F0502020204030203" pitchFamily="34" charset="0"/>
              </a:rPr>
              <a:t>In the patient group, which risk factors have the strongest correlation with CVD? Analyzing correlations and any interactions between the variables will be part of this.</a:t>
            </a:r>
            <a:endParaRPr lang="en-US" sz="1600" b="1" dirty="0">
              <a:solidFill>
                <a:schemeClr val="accent3"/>
              </a:solidFill>
              <a:latin typeface="Lato" panose="020F0502020204030203" pitchFamily="34" charset="0"/>
              <a:ea typeface="Lato" panose="020F0502020204030203" pitchFamily="34" charset="0"/>
              <a:cs typeface="Lato" panose="020F0502020204030203" pitchFamily="34" charset="0"/>
            </a:endParaRPr>
          </a:p>
          <a:p>
            <a:r>
              <a:rPr lang="en-US" sz="1600" b="1" dirty="0">
                <a:solidFill>
                  <a:schemeClr val="accent3"/>
                </a:solidFill>
                <a:latin typeface="Lato" panose="020F0502020204030203" pitchFamily="34" charset="0"/>
                <a:ea typeface="Lato" panose="020F0502020204030203" pitchFamily="34" charset="0"/>
                <a:cs typeface="Lato" panose="020F0502020204030203" pitchFamily="34" charset="0"/>
              </a:rPr>
              <a:t>Gender-Based Disparities: </a:t>
            </a:r>
            <a:r>
              <a:rPr lang="en-US" sz="1600" b="1" dirty="0">
                <a:solidFill>
                  <a:schemeClr val="tx2">
                    <a:lumMod val="50000"/>
                  </a:schemeClr>
                </a:solidFill>
                <a:latin typeface="Lato" panose="020F0502020204030203" pitchFamily="34" charset="0"/>
                <a:ea typeface="Lato" panose="020F0502020204030203" pitchFamily="34" charset="0"/>
                <a:cs typeface="Lato" panose="020F0502020204030203" pitchFamily="34" charset="0"/>
              </a:rPr>
              <a:t>Do male and female patients have different relationships with these risk variables and CVD? (Acknowledging the presence of both male and female patients, given the picture data and previous conversations).</a:t>
            </a:r>
          </a:p>
          <a:p>
            <a:r>
              <a:rPr lang="en-IN" sz="1600" b="1" dirty="0">
                <a:solidFill>
                  <a:schemeClr val="accent3"/>
                </a:solidFill>
                <a:latin typeface="Lato" panose="020F0502020204030203" pitchFamily="34" charset="0"/>
                <a:ea typeface="Lato" panose="020F0502020204030203" pitchFamily="34" charset="0"/>
                <a:cs typeface="Lato" panose="020F0502020204030203" pitchFamily="34" charset="0"/>
              </a:rPr>
              <a:t>Knowledge Gap: </a:t>
            </a:r>
            <a:r>
              <a:rPr lang="en-US" sz="1600" b="1" dirty="0">
                <a:solidFill>
                  <a:schemeClr val="tx2">
                    <a:lumMod val="50000"/>
                  </a:schemeClr>
                </a:solidFill>
                <a:latin typeface="Lato" panose="020F0502020204030203" pitchFamily="34" charset="0"/>
                <a:ea typeface="Lato" panose="020F0502020204030203" pitchFamily="34" charset="0"/>
                <a:cs typeface="Lato" panose="020F0502020204030203" pitchFamily="34" charset="0"/>
              </a:rPr>
              <a:t>For patients at varying risk levels, there is a dearth of data-driven understanding to inform customized therapies. The goal of the data synthesis is to give healthcare professionals useful information so they can concentrate on high-risk patients.</a:t>
            </a:r>
          </a:p>
          <a:p>
            <a:endParaRPr lang="en-IN" sz="1600" b="1"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3" name="Google Shape;113;p18"/>
          <p:cNvSpPr/>
          <p:nvPr/>
        </p:nvSpPr>
        <p:spPr>
          <a:xfrm>
            <a:off x="0" y="0"/>
            <a:ext cx="9144000" cy="685200"/>
          </a:xfrm>
          <a:prstGeom prst="rect">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E9EDEE"/>
              </a:solidFill>
              <a:latin typeface="Lato"/>
              <a:ea typeface="Lato"/>
              <a:cs typeface="Lato"/>
              <a:sym typeface="Lato"/>
            </a:endParaRPr>
          </a:p>
        </p:txBody>
      </p:sp>
      <p:grpSp>
        <p:nvGrpSpPr>
          <p:cNvPr id="114" name="Google Shape;114;p18"/>
          <p:cNvGrpSpPr/>
          <p:nvPr/>
        </p:nvGrpSpPr>
        <p:grpSpPr>
          <a:xfrm>
            <a:off x="311709" y="642158"/>
            <a:ext cx="862939" cy="43053"/>
            <a:chOff x="540118" y="292850"/>
            <a:chExt cx="817332" cy="64200"/>
          </a:xfrm>
        </p:grpSpPr>
        <p:sp>
          <p:nvSpPr>
            <p:cNvPr id="115" name="Google Shape;115;p18"/>
            <p:cNvSpPr/>
            <p:nvPr/>
          </p:nvSpPr>
          <p:spPr>
            <a:xfrm rot="10800000">
              <a:off x="540118" y="292850"/>
              <a:ext cx="408600" cy="642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6" name="Google Shape;116;p18"/>
            <p:cNvSpPr/>
            <p:nvPr/>
          </p:nvSpPr>
          <p:spPr>
            <a:xfrm rot="10800000">
              <a:off x="948850" y="292850"/>
              <a:ext cx="408600" cy="64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5" name="Google Shape;102;p17">
            <a:extLst>
              <a:ext uri="{FF2B5EF4-FFF2-40B4-BE49-F238E27FC236}">
                <a16:creationId xmlns:a16="http://schemas.microsoft.com/office/drawing/2014/main" id="{A0F1704C-373E-D949-132F-1EDF03A92764}"/>
              </a:ext>
            </a:extLst>
          </p:cNvPr>
          <p:cNvSpPr txBox="1">
            <a:spLocks/>
          </p:cNvSpPr>
          <p:nvPr/>
        </p:nvSpPr>
        <p:spPr>
          <a:xfrm>
            <a:off x="311699" y="1306225"/>
            <a:ext cx="4156391" cy="348868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200000"/>
              </a:lnSpc>
            </a:pPr>
            <a:r>
              <a:rPr lang="en-US" b="1" dirty="0">
                <a:solidFill>
                  <a:schemeClr val="accent3"/>
                </a:solidFill>
                <a:latin typeface="Lato" panose="020F0502020204030203" pitchFamily="34" charset="0"/>
                <a:ea typeface="Lato" panose="020F0502020204030203" pitchFamily="34" charset="0"/>
                <a:cs typeface="Lato" panose="020F0502020204030203" pitchFamily="34" charset="0"/>
                <a:sym typeface="Lato"/>
              </a:rPr>
              <a:t>Patient (Primary):</a:t>
            </a:r>
          </a:p>
          <a:p>
            <a:pPr marL="133350">
              <a:spcBef>
                <a:spcPts val="1200"/>
              </a:spcBef>
              <a:buClr>
                <a:srgbClr val="434343"/>
              </a:buClr>
              <a:buSzPct val="100000"/>
            </a:pPr>
            <a:r>
              <a:rPr lang="en-US" b="1" dirty="0">
                <a:solidFill>
                  <a:srgbClr val="EB5600"/>
                </a:solidFill>
                <a:latin typeface="Lato" panose="020F0502020204030203" pitchFamily="34" charset="0"/>
                <a:ea typeface="Lato" panose="020F0502020204030203" pitchFamily="34" charset="0"/>
                <a:cs typeface="Lato" panose="020F0502020204030203" pitchFamily="34" charset="0"/>
                <a:sym typeface="Lato"/>
              </a:rPr>
              <a:t>Name: </a:t>
            </a:r>
            <a:r>
              <a:rPr lang="en-US" b="1" dirty="0">
                <a:solidFill>
                  <a:schemeClr val="tx2">
                    <a:lumMod val="50000"/>
                  </a:schemeClr>
                </a:solidFill>
                <a:latin typeface="Lato" panose="020F0502020204030203" pitchFamily="34" charset="0"/>
                <a:ea typeface="Lato" panose="020F0502020204030203" pitchFamily="34" charset="0"/>
                <a:cs typeface="Lato" panose="020F0502020204030203" pitchFamily="34" charset="0"/>
                <a:sym typeface="Lato"/>
              </a:rPr>
              <a:t>John Smith/Jane Doe (representative male/female)</a:t>
            </a:r>
          </a:p>
          <a:p>
            <a:pPr marL="133350">
              <a:spcBef>
                <a:spcPts val="1200"/>
              </a:spcBef>
              <a:buClr>
                <a:srgbClr val="434343"/>
              </a:buClr>
              <a:buSzPct val="100000"/>
            </a:pPr>
            <a:r>
              <a:rPr lang="en-US" b="1" dirty="0">
                <a:solidFill>
                  <a:schemeClr val="accent3"/>
                </a:solidFill>
                <a:latin typeface="Lato" panose="020F0502020204030203" pitchFamily="34" charset="0"/>
                <a:ea typeface="Lato" panose="020F0502020204030203" pitchFamily="34" charset="0"/>
                <a:cs typeface="Lato" panose="020F0502020204030203" pitchFamily="34" charset="0"/>
                <a:sym typeface="Lato"/>
              </a:rPr>
              <a:t>Demographics: </a:t>
            </a:r>
            <a:r>
              <a:rPr lang="en-US" b="1" i="0" dirty="0">
                <a:solidFill>
                  <a:schemeClr val="tx2">
                    <a:lumMod val="50000"/>
                  </a:schemeClr>
                </a:solidFill>
                <a:effectLst/>
                <a:latin typeface="Lato" panose="020F0502020204030203" pitchFamily="34" charset="0"/>
                <a:ea typeface="Lato" panose="020F0502020204030203" pitchFamily="34" charset="0"/>
                <a:cs typeface="Lato" panose="020F0502020204030203" pitchFamily="34" charset="0"/>
              </a:rPr>
              <a:t>45-year-old, White, BMI 28 (overweight), smoker, no known history of hypertension or diabetes.</a:t>
            </a:r>
            <a:endParaRPr lang="en-US" b="1" dirty="0">
              <a:solidFill>
                <a:schemeClr val="tx2">
                  <a:lumMod val="50000"/>
                </a:schemeClr>
              </a:solidFill>
              <a:latin typeface="Lato" panose="020F0502020204030203" pitchFamily="34" charset="0"/>
              <a:ea typeface="Lato" panose="020F0502020204030203" pitchFamily="34" charset="0"/>
              <a:cs typeface="Lato" panose="020F0502020204030203" pitchFamily="34" charset="0"/>
              <a:sym typeface="Lato"/>
            </a:endParaRPr>
          </a:p>
          <a:p>
            <a:pPr marL="133350">
              <a:spcBef>
                <a:spcPts val="1200"/>
              </a:spcBef>
              <a:buClr>
                <a:srgbClr val="434343"/>
              </a:buClr>
              <a:buSzPct val="100000"/>
            </a:pPr>
            <a:r>
              <a:rPr lang="en-US" b="1" dirty="0">
                <a:solidFill>
                  <a:schemeClr val="accent3"/>
                </a:solidFill>
                <a:latin typeface="Lato" panose="020F0502020204030203" pitchFamily="34" charset="0"/>
                <a:ea typeface="Lato" panose="020F0502020204030203" pitchFamily="34" charset="0"/>
                <a:cs typeface="Lato" panose="020F0502020204030203" pitchFamily="34" charset="0"/>
                <a:sym typeface="Lato"/>
              </a:rPr>
              <a:t>Needs: </a:t>
            </a:r>
            <a:r>
              <a:rPr lang="en-US" b="1" i="0" dirty="0">
                <a:solidFill>
                  <a:schemeClr val="tx2">
                    <a:lumMod val="50000"/>
                  </a:schemeClr>
                </a:solidFill>
                <a:effectLst/>
                <a:latin typeface="Lato" panose="020F0502020204030203" pitchFamily="34" charset="0"/>
                <a:ea typeface="Lato" panose="020F0502020204030203" pitchFamily="34" charset="0"/>
                <a:cs typeface="Lato" panose="020F0502020204030203" pitchFamily="34" charset="0"/>
              </a:rPr>
              <a:t>Understanding personal risk, guidance on lifestyle modifications, access to preventive care.</a:t>
            </a:r>
            <a:endParaRPr lang="en-US" b="1" dirty="0">
              <a:solidFill>
                <a:schemeClr val="tx2">
                  <a:lumMod val="50000"/>
                </a:schemeClr>
              </a:solidFill>
              <a:latin typeface="Lato" panose="020F0502020204030203" pitchFamily="34" charset="0"/>
              <a:ea typeface="Lato" panose="020F0502020204030203" pitchFamily="34" charset="0"/>
              <a:cs typeface="Lato" panose="020F0502020204030203" pitchFamily="34" charset="0"/>
              <a:sym typeface="Lato"/>
            </a:endParaRPr>
          </a:p>
          <a:p>
            <a:pPr marL="133350">
              <a:spcBef>
                <a:spcPts val="1200"/>
              </a:spcBef>
              <a:buClr>
                <a:srgbClr val="434343"/>
              </a:buClr>
              <a:buSzPct val="100000"/>
            </a:pPr>
            <a:r>
              <a:rPr lang="en-US" b="1" dirty="0">
                <a:solidFill>
                  <a:schemeClr val="accent3"/>
                </a:solidFill>
                <a:latin typeface="Lato" panose="020F0502020204030203" pitchFamily="34" charset="0"/>
                <a:ea typeface="Lato" panose="020F0502020204030203" pitchFamily="34" charset="0"/>
                <a:cs typeface="Lato" panose="020F0502020204030203" pitchFamily="34" charset="0"/>
                <a:sym typeface="Lato"/>
              </a:rPr>
              <a:t>Pain Points: </a:t>
            </a:r>
            <a:r>
              <a:rPr lang="en-US" b="1" i="0" dirty="0">
                <a:solidFill>
                  <a:schemeClr val="tx2">
                    <a:lumMod val="50000"/>
                  </a:schemeClr>
                </a:solidFill>
                <a:effectLst/>
                <a:latin typeface="Lato" panose="020F0502020204030203" pitchFamily="34" charset="0"/>
                <a:ea typeface="Lato" panose="020F0502020204030203" pitchFamily="34" charset="0"/>
                <a:cs typeface="Lato" panose="020F0502020204030203" pitchFamily="34" charset="0"/>
              </a:rPr>
              <a:t>Overwhelmed by generalized health advice, unclear understanding of personal risk, lack of tailored support. </a:t>
            </a:r>
            <a:endParaRPr lang="en-US" b="1" dirty="0">
              <a:solidFill>
                <a:srgbClr val="434343"/>
              </a:solidFill>
              <a:latin typeface="Lato" panose="020F0502020204030203" pitchFamily="34" charset="0"/>
              <a:ea typeface="Lato" panose="020F0502020204030203" pitchFamily="34" charset="0"/>
              <a:cs typeface="Lato" panose="020F0502020204030203" pitchFamily="34" charset="0"/>
              <a:sym typeface="Lato"/>
            </a:endParaRPr>
          </a:p>
        </p:txBody>
      </p:sp>
      <p:sp>
        <p:nvSpPr>
          <p:cNvPr id="2" name="Google Shape;79;p15">
            <a:extLst>
              <a:ext uri="{FF2B5EF4-FFF2-40B4-BE49-F238E27FC236}">
                <a16:creationId xmlns:a16="http://schemas.microsoft.com/office/drawing/2014/main" id="{A8CBD783-FD12-5CE4-E8D9-4DDF054CEB96}"/>
              </a:ext>
            </a:extLst>
          </p:cNvPr>
          <p:cNvSpPr txBox="1">
            <a:spLocks/>
          </p:cNvSpPr>
          <p:nvPr/>
        </p:nvSpPr>
        <p:spPr>
          <a:xfrm>
            <a:off x="311700" y="811825"/>
            <a:ext cx="8520600" cy="4944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990"/>
            </a:pPr>
            <a:r>
              <a:rPr lang="en-IN" sz="2500" dirty="0">
                <a:solidFill>
                  <a:schemeClr val="dk1"/>
                </a:solidFill>
                <a:latin typeface="Montserrat Black"/>
                <a:ea typeface="Montserrat Black"/>
                <a:cs typeface="Montserrat Black"/>
                <a:sym typeface="Montserrat Black"/>
              </a:rPr>
              <a:t>Section 2: Personas</a:t>
            </a:r>
          </a:p>
        </p:txBody>
      </p:sp>
      <p:sp>
        <p:nvSpPr>
          <p:cNvPr id="4" name="Google Shape;102;p17">
            <a:extLst>
              <a:ext uri="{FF2B5EF4-FFF2-40B4-BE49-F238E27FC236}">
                <a16:creationId xmlns:a16="http://schemas.microsoft.com/office/drawing/2014/main" id="{ACF37A95-4BFD-7B2F-137F-F9E502E688A3}"/>
              </a:ext>
            </a:extLst>
          </p:cNvPr>
          <p:cNvSpPr txBox="1">
            <a:spLocks/>
          </p:cNvSpPr>
          <p:nvPr/>
        </p:nvSpPr>
        <p:spPr>
          <a:xfrm>
            <a:off x="4675908" y="1306225"/>
            <a:ext cx="4045528" cy="348868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200000"/>
              </a:lnSpc>
            </a:pPr>
            <a:r>
              <a:rPr lang="en-US" b="1" dirty="0">
                <a:solidFill>
                  <a:schemeClr val="accent3"/>
                </a:solidFill>
                <a:latin typeface="Lato"/>
                <a:ea typeface="Lato"/>
                <a:cs typeface="Lato"/>
                <a:sym typeface="Lato"/>
              </a:rPr>
              <a:t>Physician/General Practitioner:</a:t>
            </a:r>
          </a:p>
          <a:p>
            <a:pPr marL="133350">
              <a:spcBef>
                <a:spcPts val="1200"/>
              </a:spcBef>
              <a:buClr>
                <a:srgbClr val="434343"/>
              </a:buClr>
              <a:buSzPct val="100000"/>
            </a:pPr>
            <a:r>
              <a:rPr lang="en-US" b="1" dirty="0">
                <a:solidFill>
                  <a:schemeClr val="accent3"/>
                </a:solidFill>
                <a:latin typeface="Lato"/>
                <a:ea typeface="Lato"/>
                <a:cs typeface="Lato"/>
                <a:sym typeface="Lato"/>
              </a:rPr>
              <a:t>Name: </a:t>
            </a:r>
            <a:r>
              <a:rPr lang="en-US" b="1" dirty="0">
                <a:solidFill>
                  <a:schemeClr val="tx2">
                    <a:lumMod val="50000"/>
                  </a:schemeClr>
                </a:solidFill>
                <a:latin typeface="Lato"/>
                <a:ea typeface="Lato"/>
                <a:cs typeface="Lato"/>
                <a:sym typeface="Lato"/>
              </a:rPr>
              <a:t>Dr. Alice Johnson</a:t>
            </a:r>
          </a:p>
          <a:p>
            <a:pPr marL="133350">
              <a:spcBef>
                <a:spcPts val="1200"/>
              </a:spcBef>
              <a:buClr>
                <a:srgbClr val="434343"/>
              </a:buClr>
              <a:buSzPct val="100000"/>
            </a:pPr>
            <a:r>
              <a:rPr lang="en-US" b="1" dirty="0">
                <a:solidFill>
                  <a:schemeClr val="accent3"/>
                </a:solidFill>
                <a:latin typeface="Lato"/>
                <a:ea typeface="Lato"/>
                <a:cs typeface="Lato"/>
                <a:sym typeface="Lato"/>
              </a:rPr>
              <a:t>Responsibilities: </a:t>
            </a:r>
            <a:r>
              <a:rPr lang="en-US" b="1" dirty="0">
                <a:solidFill>
                  <a:schemeClr val="tx2">
                    <a:lumMod val="50000"/>
                  </a:schemeClr>
                </a:solidFill>
                <a:latin typeface="Lato"/>
                <a:ea typeface="Lato"/>
                <a:cs typeface="Lato"/>
                <a:sym typeface="Lato"/>
              </a:rPr>
              <a:t>Diagnosing and managing patient health, providing preventive care, referring patients to specialists.</a:t>
            </a:r>
          </a:p>
          <a:p>
            <a:pPr marL="133350">
              <a:spcBef>
                <a:spcPts val="1200"/>
              </a:spcBef>
              <a:buClr>
                <a:srgbClr val="434343"/>
              </a:buClr>
              <a:buSzPct val="100000"/>
            </a:pPr>
            <a:r>
              <a:rPr lang="en-US" b="1" dirty="0">
                <a:solidFill>
                  <a:schemeClr val="accent3"/>
                </a:solidFill>
                <a:latin typeface="Lato"/>
                <a:ea typeface="Lato"/>
                <a:cs typeface="Lato"/>
                <a:sym typeface="Lato"/>
              </a:rPr>
              <a:t>Needs: </a:t>
            </a:r>
            <a:r>
              <a:rPr lang="en-US" b="1" dirty="0">
                <a:solidFill>
                  <a:schemeClr val="tx2">
                    <a:lumMod val="50000"/>
                  </a:schemeClr>
                </a:solidFill>
                <a:latin typeface="Lato"/>
                <a:ea typeface="Lato"/>
                <a:cs typeface="Lato"/>
                <a:sym typeface="Lato"/>
              </a:rPr>
              <a:t>Tools to efficiently identify high-risk patients, evidence-based guidelines for treatment, actionable data insights.</a:t>
            </a:r>
          </a:p>
          <a:p>
            <a:pPr marL="133350">
              <a:spcBef>
                <a:spcPts val="1200"/>
              </a:spcBef>
              <a:buClr>
                <a:srgbClr val="434343"/>
              </a:buClr>
              <a:buSzPct val="100000"/>
            </a:pPr>
            <a:r>
              <a:rPr lang="en-US" b="1" dirty="0">
                <a:solidFill>
                  <a:schemeClr val="accent3"/>
                </a:solidFill>
                <a:latin typeface="Lato"/>
                <a:ea typeface="Lato"/>
                <a:cs typeface="Lato"/>
                <a:sym typeface="Lato"/>
              </a:rPr>
              <a:t>Pain Points: </a:t>
            </a:r>
            <a:r>
              <a:rPr lang="en-US" b="1" dirty="0">
                <a:solidFill>
                  <a:schemeClr val="tx2">
                    <a:lumMod val="50000"/>
                  </a:schemeClr>
                </a:solidFill>
                <a:latin typeface="Lato"/>
                <a:ea typeface="Lato"/>
                <a:cs typeface="Lato"/>
                <a:sym typeface="Lato"/>
              </a:rPr>
              <a:t>Limited time per patient, difficulty synthesizing large datasets, keeping up with the latest research.</a:t>
            </a:r>
            <a:endParaRPr lang="en-US" b="1" dirty="0">
              <a:solidFill>
                <a:srgbClr val="434343"/>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9"/>
          <p:cNvSpPr txBox="1">
            <a:spLocks noGrp="1"/>
          </p:cNvSpPr>
          <p:nvPr>
            <p:ph type="title"/>
          </p:nvPr>
        </p:nvSpPr>
        <p:spPr>
          <a:xfrm>
            <a:off x="311700" y="842054"/>
            <a:ext cx="8520600" cy="576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dirty="0">
                <a:solidFill>
                  <a:schemeClr val="dk1"/>
                </a:solidFill>
                <a:latin typeface="Montserrat Black"/>
                <a:ea typeface="Montserrat Black"/>
                <a:cs typeface="Montserrat Black"/>
                <a:sym typeface="Montserrat Black"/>
              </a:rPr>
              <a:t>Section 3: Data </a:t>
            </a:r>
            <a:endParaRPr sz="2500" dirty="0">
              <a:solidFill>
                <a:schemeClr val="dk1"/>
              </a:solidFill>
              <a:latin typeface="Montserrat Black"/>
              <a:ea typeface="Montserrat Black"/>
              <a:cs typeface="Montserrat Black"/>
              <a:sym typeface="Montserrat Black"/>
            </a:endParaRPr>
          </a:p>
        </p:txBody>
      </p:sp>
      <p:sp>
        <p:nvSpPr>
          <p:cNvPr id="124" name="Google Shape;124;p19"/>
          <p:cNvSpPr txBox="1">
            <a:spLocks noGrp="1"/>
          </p:cNvSpPr>
          <p:nvPr>
            <p:ph type="body" idx="1"/>
          </p:nvPr>
        </p:nvSpPr>
        <p:spPr>
          <a:xfrm>
            <a:off x="417817" y="1575496"/>
            <a:ext cx="3932510" cy="3301304"/>
          </a:xfrm>
          <a:prstGeom prst="rect">
            <a:avLst/>
          </a:prstGeom>
        </p:spPr>
        <p:txBody>
          <a:bodyPr spcFirstLastPara="1" wrap="square" lIns="91425" tIns="91425" rIns="91425" bIns="91425" anchor="t" anchorCtr="0">
            <a:noAutofit/>
          </a:bodyPr>
          <a:lstStyle/>
          <a:p>
            <a:pPr marL="0" indent="0">
              <a:lnSpc>
                <a:spcPct val="150000"/>
              </a:lnSpc>
              <a:buNone/>
            </a:pPr>
            <a:r>
              <a:rPr lang="en-IN" sz="1400" b="1" dirty="0">
                <a:solidFill>
                  <a:schemeClr val="accent3"/>
                </a:solidFill>
                <a:latin typeface="Lato"/>
                <a:ea typeface="Lato"/>
                <a:cs typeface="Lato"/>
                <a:sym typeface="Lato"/>
              </a:rPr>
              <a:t>Data Sources: </a:t>
            </a:r>
            <a:r>
              <a:rPr lang="en-IN" sz="1400" b="1" dirty="0">
                <a:solidFill>
                  <a:schemeClr val="tx2">
                    <a:lumMod val="50000"/>
                  </a:schemeClr>
                </a:solidFill>
                <a:latin typeface="Lato"/>
                <a:ea typeface="Lato"/>
                <a:cs typeface="Lato"/>
                <a:sym typeface="Lato"/>
              </a:rPr>
              <a:t>The primary data source is the provided patient dataset, which includes variables:</a:t>
            </a:r>
          </a:p>
          <a:p>
            <a:pPr marL="0" indent="0" algn="just">
              <a:lnSpc>
                <a:spcPct val="150000"/>
              </a:lnSpc>
              <a:buNone/>
            </a:pPr>
            <a:r>
              <a:rPr lang="en-IN" sz="1400" b="1" dirty="0">
                <a:solidFill>
                  <a:schemeClr val="accent3"/>
                </a:solidFill>
                <a:latin typeface="Lato"/>
                <a:ea typeface="Lato"/>
                <a:cs typeface="Lato"/>
                <a:sym typeface="Lato"/>
              </a:rPr>
              <a:t>patientID: </a:t>
            </a:r>
            <a:r>
              <a:rPr lang="en-IN" sz="1400" b="1" dirty="0">
                <a:solidFill>
                  <a:schemeClr val="tx2">
                    <a:lumMod val="50000"/>
                  </a:schemeClr>
                </a:solidFill>
                <a:latin typeface="Lato"/>
                <a:ea typeface="Lato"/>
                <a:cs typeface="Lato"/>
                <a:sym typeface="Lato"/>
              </a:rPr>
              <a:t>Unique identifier</a:t>
            </a:r>
          </a:p>
          <a:p>
            <a:pPr marL="0" indent="0" algn="just">
              <a:lnSpc>
                <a:spcPct val="150000"/>
              </a:lnSpc>
              <a:buNone/>
            </a:pPr>
            <a:r>
              <a:rPr lang="en-IN" sz="1400" b="1" dirty="0">
                <a:solidFill>
                  <a:schemeClr val="accent3"/>
                </a:solidFill>
                <a:latin typeface="Lato"/>
                <a:ea typeface="Lato"/>
                <a:cs typeface="Lato"/>
                <a:sym typeface="Lato"/>
              </a:rPr>
              <a:t>age: </a:t>
            </a:r>
            <a:r>
              <a:rPr lang="en-IN" sz="1400" b="1" dirty="0">
                <a:solidFill>
                  <a:schemeClr val="tx2">
                    <a:lumMod val="50000"/>
                  </a:schemeClr>
                </a:solidFill>
                <a:latin typeface="Lato"/>
                <a:ea typeface="Lato"/>
                <a:cs typeface="Lato"/>
                <a:sym typeface="Lato"/>
              </a:rPr>
              <a:t>Age range</a:t>
            </a:r>
          </a:p>
          <a:p>
            <a:pPr marL="0" indent="0" algn="just">
              <a:lnSpc>
                <a:spcPct val="150000"/>
              </a:lnSpc>
              <a:buNone/>
            </a:pPr>
            <a:r>
              <a:rPr lang="en-IN" sz="1400" b="1" dirty="0">
                <a:solidFill>
                  <a:schemeClr val="accent3"/>
                </a:solidFill>
                <a:latin typeface="Lato"/>
                <a:ea typeface="Lato"/>
                <a:cs typeface="Lato"/>
                <a:sym typeface="Lato"/>
              </a:rPr>
              <a:t>htn: </a:t>
            </a:r>
            <a:r>
              <a:rPr lang="en-IN" sz="1400" b="1" dirty="0">
                <a:solidFill>
                  <a:schemeClr val="tx2">
                    <a:lumMod val="50000"/>
                  </a:schemeClr>
                </a:solidFill>
                <a:latin typeface="Lato"/>
                <a:ea typeface="Lato"/>
                <a:cs typeface="Lato"/>
                <a:sym typeface="Lato"/>
              </a:rPr>
              <a:t>Hypertension status (Y/N)</a:t>
            </a:r>
          </a:p>
          <a:p>
            <a:pPr marL="0" indent="0" algn="just">
              <a:lnSpc>
                <a:spcPct val="150000"/>
              </a:lnSpc>
              <a:buNone/>
            </a:pPr>
            <a:r>
              <a:rPr lang="en-IN" sz="1400" b="1" dirty="0">
                <a:solidFill>
                  <a:schemeClr val="accent3"/>
                </a:solidFill>
                <a:latin typeface="Lato"/>
                <a:ea typeface="Lato"/>
                <a:cs typeface="Lato"/>
                <a:sym typeface="Lato"/>
              </a:rPr>
              <a:t>treat:</a:t>
            </a:r>
            <a:r>
              <a:rPr lang="en-IN" sz="1400" b="1" dirty="0">
                <a:solidFill>
                  <a:schemeClr val="tx2">
                    <a:lumMod val="50000"/>
                  </a:schemeClr>
                </a:solidFill>
                <a:latin typeface="Lato"/>
                <a:ea typeface="Lato"/>
                <a:cs typeface="Lato"/>
                <a:sym typeface="Lato"/>
              </a:rPr>
              <a:t> Treatment status (Y/N)</a:t>
            </a:r>
          </a:p>
          <a:p>
            <a:pPr marL="0" indent="0" algn="just">
              <a:lnSpc>
                <a:spcPct val="150000"/>
              </a:lnSpc>
              <a:buNone/>
            </a:pPr>
            <a:r>
              <a:rPr lang="en-IN" sz="1400" b="1" dirty="0">
                <a:solidFill>
                  <a:schemeClr val="accent3"/>
                </a:solidFill>
                <a:latin typeface="Lato"/>
                <a:ea typeface="Lato"/>
                <a:cs typeface="Lato"/>
                <a:sym typeface="Lato"/>
              </a:rPr>
              <a:t>smoking:</a:t>
            </a:r>
            <a:r>
              <a:rPr lang="en-IN" sz="1400" b="1" dirty="0">
                <a:solidFill>
                  <a:schemeClr val="tx2">
                    <a:lumMod val="50000"/>
                  </a:schemeClr>
                </a:solidFill>
                <a:latin typeface="Lato"/>
                <a:ea typeface="Lato"/>
                <a:cs typeface="Lato"/>
                <a:sym typeface="Lato"/>
              </a:rPr>
              <a:t> Smoking status (Y/N)</a:t>
            </a:r>
          </a:p>
        </p:txBody>
      </p:sp>
      <p:sp>
        <p:nvSpPr>
          <p:cNvPr id="125" name="Google Shape;125;p19"/>
          <p:cNvSpPr/>
          <p:nvPr/>
        </p:nvSpPr>
        <p:spPr>
          <a:xfrm>
            <a:off x="0" y="0"/>
            <a:ext cx="9144000" cy="685200"/>
          </a:xfrm>
          <a:prstGeom prst="rect">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E9EDEE"/>
              </a:solidFill>
              <a:latin typeface="Lato"/>
              <a:ea typeface="Lato"/>
              <a:cs typeface="Lato"/>
              <a:sym typeface="Lato"/>
            </a:endParaRPr>
          </a:p>
        </p:txBody>
      </p:sp>
      <p:grpSp>
        <p:nvGrpSpPr>
          <p:cNvPr id="126" name="Google Shape;126;p19"/>
          <p:cNvGrpSpPr/>
          <p:nvPr/>
        </p:nvGrpSpPr>
        <p:grpSpPr>
          <a:xfrm>
            <a:off x="311709" y="642158"/>
            <a:ext cx="862939" cy="43053"/>
            <a:chOff x="540118" y="292850"/>
            <a:chExt cx="817332" cy="64200"/>
          </a:xfrm>
        </p:grpSpPr>
        <p:sp>
          <p:nvSpPr>
            <p:cNvPr id="127" name="Google Shape;127;p19"/>
            <p:cNvSpPr/>
            <p:nvPr/>
          </p:nvSpPr>
          <p:spPr>
            <a:xfrm rot="10800000">
              <a:off x="540118" y="292850"/>
              <a:ext cx="408600" cy="642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8" name="Google Shape;128;p19"/>
            <p:cNvSpPr/>
            <p:nvPr/>
          </p:nvSpPr>
          <p:spPr>
            <a:xfrm rot="10800000">
              <a:off x="948850" y="292850"/>
              <a:ext cx="408600" cy="64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2" name="Google Shape;124;p19">
            <a:extLst>
              <a:ext uri="{FF2B5EF4-FFF2-40B4-BE49-F238E27FC236}">
                <a16:creationId xmlns:a16="http://schemas.microsoft.com/office/drawing/2014/main" id="{13BB9AD0-DA89-589B-5970-957A3374922C}"/>
              </a:ext>
            </a:extLst>
          </p:cNvPr>
          <p:cNvSpPr txBox="1">
            <a:spLocks/>
          </p:cNvSpPr>
          <p:nvPr/>
        </p:nvSpPr>
        <p:spPr>
          <a:xfrm>
            <a:off x="4899790" y="1575496"/>
            <a:ext cx="3932510" cy="330130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Proxima Nova"/>
              <a:buChar char="●"/>
              <a:defRPr sz="1800" b="0" i="0" u="none" strike="noStrike" cap="none">
                <a:solidFill>
                  <a:schemeClr val="dk2"/>
                </a:solidFill>
                <a:latin typeface="Proxima Nova"/>
                <a:ea typeface="Proxima Nova"/>
                <a:cs typeface="Proxima Nova"/>
                <a:sym typeface="Proxima Nova"/>
              </a:defRPr>
            </a:lvl1pPr>
            <a:lvl2pPr marL="914400" marR="0" lvl="1" indent="-317500" algn="l" rtl="0">
              <a:lnSpc>
                <a:spcPct val="115000"/>
              </a:lnSpc>
              <a:spcBef>
                <a:spcPts val="0"/>
              </a:spcBef>
              <a:spcAft>
                <a:spcPts val="0"/>
              </a:spcAft>
              <a:buClr>
                <a:schemeClr val="dk2"/>
              </a:buClr>
              <a:buSzPts val="1400"/>
              <a:buFont typeface="Proxima Nova"/>
              <a:buChar char="○"/>
              <a:defRPr sz="1400" b="0" i="0" u="none" strike="noStrike" cap="none">
                <a:solidFill>
                  <a:schemeClr val="dk2"/>
                </a:solidFill>
                <a:latin typeface="Proxima Nova"/>
                <a:ea typeface="Proxima Nova"/>
                <a:cs typeface="Proxima Nova"/>
                <a:sym typeface="Proxima Nova"/>
              </a:defRPr>
            </a:lvl2pPr>
            <a:lvl3pPr marL="1371600" marR="0" lvl="2" indent="-317500" algn="l" rtl="0">
              <a:lnSpc>
                <a:spcPct val="115000"/>
              </a:lnSpc>
              <a:spcBef>
                <a:spcPts val="0"/>
              </a:spcBef>
              <a:spcAft>
                <a:spcPts val="0"/>
              </a:spcAft>
              <a:buClr>
                <a:schemeClr val="dk2"/>
              </a:buClr>
              <a:buSzPts val="1400"/>
              <a:buFont typeface="Proxima Nova"/>
              <a:buChar char="■"/>
              <a:defRPr sz="1400" b="0" i="0" u="none" strike="noStrike" cap="none">
                <a:solidFill>
                  <a:schemeClr val="dk2"/>
                </a:solidFill>
                <a:latin typeface="Proxima Nova"/>
                <a:ea typeface="Proxima Nova"/>
                <a:cs typeface="Proxima Nova"/>
                <a:sym typeface="Proxima Nova"/>
              </a:defRPr>
            </a:lvl3pPr>
            <a:lvl4pPr marL="1828800" marR="0" lvl="3" indent="-317500" algn="l" rtl="0">
              <a:lnSpc>
                <a:spcPct val="115000"/>
              </a:lnSpc>
              <a:spcBef>
                <a:spcPts val="0"/>
              </a:spcBef>
              <a:spcAft>
                <a:spcPts val="0"/>
              </a:spcAft>
              <a:buClr>
                <a:schemeClr val="dk2"/>
              </a:buClr>
              <a:buSzPts val="1400"/>
              <a:buFont typeface="Proxima Nova"/>
              <a:buChar char="●"/>
              <a:defRPr sz="1400" b="0" i="0" u="none" strike="noStrike" cap="none">
                <a:solidFill>
                  <a:schemeClr val="dk2"/>
                </a:solidFill>
                <a:latin typeface="Proxima Nova"/>
                <a:ea typeface="Proxima Nova"/>
                <a:cs typeface="Proxima Nova"/>
                <a:sym typeface="Proxima Nova"/>
              </a:defRPr>
            </a:lvl4pPr>
            <a:lvl5pPr marL="2286000" marR="0" lvl="4" indent="-317500" algn="l" rtl="0">
              <a:lnSpc>
                <a:spcPct val="115000"/>
              </a:lnSpc>
              <a:spcBef>
                <a:spcPts val="0"/>
              </a:spcBef>
              <a:spcAft>
                <a:spcPts val="0"/>
              </a:spcAft>
              <a:buClr>
                <a:schemeClr val="dk2"/>
              </a:buClr>
              <a:buSzPts val="1400"/>
              <a:buFont typeface="Proxima Nova"/>
              <a:buChar char="○"/>
              <a:defRPr sz="1400" b="0" i="0" u="none" strike="noStrike" cap="none">
                <a:solidFill>
                  <a:schemeClr val="dk2"/>
                </a:solidFill>
                <a:latin typeface="Proxima Nova"/>
                <a:ea typeface="Proxima Nova"/>
                <a:cs typeface="Proxima Nova"/>
                <a:sym typeface="Proxima Nova"/>
              </a:defRPr>
            </a:lvl5pPr>
            <a:lvl6pPr marL="2743200" marR="0" lvl="5" indent="-317500" algn="l" rtl="0">
              <a:lnSpc>
                <a:spcPct val="115000"/>
              </a:lnSpc>
              <a:spcBef>
                <a:spcPts val="0"/>
              </a:spcBef>
              <a:spcAft>
                <a:spcPts val="0"/>
              </a:spcAft>
              <a:buClr>
                <a:schemeClr val="dk2"/>
              </a:buClr>
              <a:buSzPts val="1400"/>
              <a:buFont typeface="Proxima Nova"/>
              <a:buChar char="■"/>
              <a:defRPr sz="1400" b="0" i="0" u="none" strike="noStrike" cap="none">
                <a:solidFill>
                  <a:schemeClr val="dk2"/>
                </a:solidFill>
                <a:latin typeface="Proxima Nova"/>
                <a:ea typeface="Proxima Nova"/>
                <a:cs typeface="Proxima Nova"/>
                <a:sym typeface="Proxima Nova"/>
              </a:defRPr>
            </a:lvl6pPr>
            <a:lvl7pPr marL="3200400" marR="0" lvl="6" indent="-317500" algn="l" rtl="0">
              <a:lnSpc>
                <a:spcPct val="115000"/>
              </a:lnSpc>
              <a:spcBef>
                <a:spcPts val="0"/>
              </a:spcBef>
              <a:spcAft>
                <a:spcPts val="0"/>
              </a:spcAft>
              <a:buClr>
                <a:schemeClr val="dk2"/>
              </a:buClr>
              <a:buSzPts val="1400"/>
              <a:buFont typeface="Proxima Nova"/>
              <a:buChar char="●"/>
              <a:defRPr sz="1400" b="0" i="0" u="none" strike="noStrike" cap="none">
                <a:solidFill>
                  <a:schemeClr val="dk2"/>
                </a:solidFill>
                <a:latin typeface="Proxima Nova"/>
                <a:ea typeface="Proxima Nova"/>
                <a:cs typeface="Proxima Nova"/>
                <a:sym typeface="Proxima Nova"/>
              </a:defRPr>
            </a:lvl7pPr>
            <a:lvl8pPr marL="3657600" marR="0" lvl="7" indent="-317500" algn="l" rtl="0">
              <a:lnSpc>
                <a:spcPct val="115000"/>
              </a:lnSpc>
              <a:spcBef>
                <a:spcPts val="0"/>
              </a:spcBef>
              <a:spcAft>
                <a:spcPts val="0"/>
              </a:spcAft>
              <a:buClr>
                <a:schemeClr val="dk2"/>
              </a:buClr>
              <a:buSzPts val="1400"/>
              <a:buFont typeface="Proxima Nova"/>
              <a:buChar char="○"/>
              <a:defRPr sz="1400" b="0" i="0" u="none" strike="noStrike" cap="none">
                <a:solidFill>
                  <a:schemeClr val="dk2"/>
                </a:solidFill>
                <a:latin typeface="Proxima Nova"/>
                <a:ea typeface="Proxima Nova"/>
                <a:cs typeface="Proxima Nova"/>
                <a:sym typeface="Proxima Nova"/>
              </a:defRPr>
            </a:lvl8pPr>
            <a:lvl9pPr marL="4114800" marR="0" lvl="8" indent="-317500" algn="l" rtl="0">
              <a:lnSpc>
                <a:spcPct val="115000"/>
              </a:lnSpc>
              <a:spcBef>
                <a:spcPts val="0"/>
              </a:spcBef>
              <a:spcAft>
                <a:spcPts val="0"/>
              </a:spcAft>
              <a:buClr>
                <a:schemeClr val="dk2"/>
              </a:buClr>
              <a:buSzPts val="1400"/>
              <a:buFont typeface="Proxima Nova"/>
              <a:buChar char="■"/>
              <a:defRPr sz="1400" b="0" i="0" u="none" strike="noStrike" cap="none">
                <a:solidFill>
                  <a:schemeClr val="dk2"/>
                </a:solidFill>
                <a:latin typeface="Proxima Nova"/>
                <a:ea typeface="Proxima Nova"/>
                <a:cs typeface="Proxima Nova"/>
                <a:sym typeface="Proxima Nova"/>
              </a:defRPr>
            </a:lvl9pPr>
          </a:lstStyle>
          <a:p>
            <a:pPr marL="0" indent="0" algn="just">
              <a:lnSpc>
                <a:spcPct val="150000"/>
              </a:lnSpc>
              <a:buNone/>
            </a:pPr>
            <a:r>
              <a:rPr lang="en-US" sz="1400" b="1" dirty="0" err="1">
                <a:solidFill>
                  <a:schemeClr val="accent3"/>
                </a:solidFill>
                <a:latin typeface="Lato"/>
                <a:ea typeface="Lato"/>
                <a:cs typeface="Lato"/>
                <a:sym typeface="Lato"/>
              </a:rPr>
              <a:t>numAge</a:t>
            </a:r>
            <a:r>
              <a:rPr lang="en-US" sz="1400" b="1" dirty="0">
                <a:solidFill>
                  <a:schemeClr val="accent3"/>
                </a:solidFill>
                <a:latin typeface="Lato"/>
                <a:ea typeface="Lato"/>
                <a:cs typeface="Lato"/>
                <a:sym typeface="Lato"/>
              </a:rPr>
              <a:t>:</a:t>
            </a:r>
            <a:r>
              <a:rPr lang="en-US" sz="1400" b="1" dirty="0">
                <a:solidFill>
                  <a:schemeClr val="tx2">
                    <a:lumMod val="50000"/>
                  </a:schemeClr>
                </a:solidFill>
                <a:latin typeface="Lato"/>
                <a:ea typeface="Lato"/>
                <a:cs typeface="Lato"/>
                <a:sym typeface="Lato"/>
              </a:rPr>
              <a:t> Exact age of the patient</a:t>
            </a:r>
          </a:p>
          <a:p>
            <a:pPr marL="0" indent="0" algn="just">
              <a:lnSpc>
                <a:spcPct val="150000"/>
              </a:lnSpc>
              <a:buNone/>
            </a:pPr>
            <a:r>
              <a:rPr lang="en-US" sz="1400" b="1" dirty="0" err="1">
                <a:solidFill>
                  <a:schemeClr val="accent3"/>
                </a:solidFill>
                <a:latin typeface="Lato"/>
                <a:ea typeface="Lato"/>
                <a:cs typeface="Lato"/>
                <a:sym typeface="Lato"/>
              </a:rPr>
              <a:t>bmi</a:t>
            </a:r>
            <a:r>
              <a:rPr lang="en-US" sz="1400" b="1" dirty="0">
                <a:solidFill>
                  <a:schemeClr val="accent3"/>
                </a:solidFill>
                <a:latin typeface="Lato"/>
                <a:ea typeface="Lato"/>
                <a:cs typeface="Lato"/>
                <a:sym typeface="Lato"/>
              </a:rPr>
              <a:t>:</a:t>
            </a:r>
            <a:r>
              <a:rPr lang="en-US" sz="1400" b="1" dirty="0">
                <a:solidFill>
                  <a:schemeClr val="tx2">
                    <a:lumMod val="50000"/>
                  </a:schemeClr>
                </a:solidFill>
                <a:latin typeface="Lato"/>
                <a:ea typeface="Lato"/>
                <a:cs typeface="Lato"/>
                <a:sym typeface="Lato"/>
              </a:rPr>
              <a:t> Body Mass Index</a:t>
            </a:r>
          </a:p>
          <a:p>
            <a:pPr marL="0" indent="0" algn="just">
              <a:lnSpc>
                <a:spcPct val="150000"/>
              </a:lnSpc>
              <a:buNone/>
            </a:pPr>
            <a:r>
              <a:rPr lang="en-US" sz="1400" b="1" dirty="0" err="1">
                <a:solidFill>
                  <a:schemeClr val="accent3"/>
                </a:solidFill>
                <a:latin typeface="Lato"/>
                <a:ea typeface="Lato"/>
                <a:cs typeface="Lato"/>
                <a:sym typeface="Lato"/>
              </a:rPr>
              <a:t>tchol</a:t>
            </a:r>
            <a:r>
              <a:rPr lang="en-US" sz="1400" b="1" dirty="0">
                <a:solidFill>
                  <a:schemeClr val="accent3"/>
                </a:solidFill>
                <a:latin typeface="Lato"/>
                <a:ea typeface="Lato"/>
                <a:cs typeface="Lato"/>
                <a:sym typeface="Lato"/>
              </a:rPr>
              <a:t>:</a:t>
            </a:r>
            <a:r>
              <a:rPr lang="en-US" sz="1400" b="1" dirty="0">
                <a:solidFill>
                  <a:schemeClr val="tx2">
                    <a:lumMod val="50000"/>
                  </a:schemeClr>
                </a:solidFill>
                <a:latin typeface="Lato"/>
                <a:ea typeface="Lato"/>
                <a:cs typeface="Lato"/>
                <a:sym typeface="Lato"/>
              </a:rPr>
              <a:t> Total cholesterol level</a:t>
            </a:r>
          </a:p>
          <a:p>
            <a:pPr marL="0" indent="0" algn="just">
              <a:lnSpc>
                <a:spcPct val="150000"/>
              </a:lnSpc>
              <a:buNone/>
            </a:pPr>
            <a:r>
              <a:rPr lang="en-US" sz="1400" b="1" dirty="0" err="1">
                <a:solidFill>
                  <a:schemeClr val="accent3"/>
                </a:solidFill>
                <a:latin typeface="Lato"/>
                <a:ea typeface="Lato"/>
                <a:cs typeface="Lato"/>
                <a:sym typeface="Lato"/>
              </a:rPr>
              <a:t>sbp</a:t>
            </a:r>
            <a:r>
              <a:rPr lang="en-US" sz="1400" b="1" dirty="0">
                <a:solidFill>
                  <a:schemeClr val="accent3"/>
                </a:solidFill>
                <a:latin typeface="Lato"/>
                <a:ea typeface="Lato"/>
                <a:cs typeface="Lato"/>
                <a:sym typeface="Lato"/>
              </a:rPr>
              <a:t>:</a:t>
            </a:r>
            <a:r>
              <a:rPr lang="en-US" sz="1400" b="1" dirty="0">
                <a:solidFill>
                  <a:schemeClr val="tx2">
                    <a:lumMod val="50000"/>
                  </a:schemeClr>
                </a:solidFill>
                <a:latin typeface="Lato"/>
                <a:ea typeface="Lato"/>
                <a:cs typeface="Lato"/>
                <a:sym typeface="Lato"/>
              </a:rPr>
              <a:t> Systolic blood pressure</a:t>
            </a:r>
          </a:p>
          <a:p>
            <a:pPr marL="0" indent="0" algn="just">
              <a:lnSpc>
                <a:spcPct val="150000"/>
              </a:lnSpc>
              <a:buNone/>
            </a:pPr>
            <a:r>
              <a:rPr lang="en-US" sz="1400" b="1" dirty="0" err="1">
                <a:solidFill>
                  <a:schemeClr val="accent3"/>
                </a:solidFill>
                <a:latin typeface="Lato"/>
                <a:ea typeface="Lato"/>
                <a:cs typeface="Lato"/>
                <a:sym typeface="Lato"/>
              </a:rPr>
              <a:t>cvd</a:t>
            </a:r>
            <a:r>
              <a:rPr lang="en-US" sz="1400" b="1" dirty="0">
                <a:solidFill>
                  <a:schemeClr val="accent3"/>
                </a:solidFill>
                <a:latin typeface="Lato"/>
                <a:ea typeface="Lato"/>
                <a:cs typeface="Lato"/>
                <a:sym typeface="Lato"/>
              </a:rPr>
              <a:t>:</a:t>
            </a:r>
            <a:r>
              <a:rPr lang="en-US" sz="1400" b="1" dirty="0">
                <a:solidFill>
                  <a:schemeClr val="tx2">
                    <a:lumMod val="50000"/>
                  </a:schemeClr>
                </a:solidFill>
                <a:latin typeface="Lato"/>
                <a:ea typeface="Lato"/>
                <a:cs typeface="Lato"/>
                <a:sym typeface="Lato"/>
              </a:rPr>
              <a:t> Cardiovascular disease status (Y/N)</a:t>
            </a:r>
          </a:p>
          <a:p>
            <a:pPr marL="0" indent="0" algn="just">
              <a:lnSpc>
                <a:spcPct val="150000"/>
              </a:lnSpc>
              <a:buNone/>
            </a:pPr>
            <a:r>
              <a:rPr lang="en-IN" sz="1400" b="1" dirty="0">
                <a:solidFill>
                  <a:schemeClr val="accent3"/>
                </a:solidFill>
                <a:latin typeface="Lato"/>
                <a:ea typeface="Lato"/>
                <a:cs typeface="Lato"/>
                <a:sym typeface="Lato"/>
              </a:rPr>
              <a:t>race:</a:t>
            </a:r>
            <a:r>
              <a:rPr lang="en-IN" sz="1400" b="1" dirty="0">
                <a:solidFill>
                  <a:schemeClr val="tx2">
                    <a:lumMod val="50000"/>
                  </a:schemeClr>
                </a:solidFill>
                <a:latin typeface="Lato"/>
                <a:ea typeface="Lato"/>
                <a:cs typeface="Lato"/>
                <a:sym typeface="Lato"/>
              </a:rPr>
              <a:t> Patient's race</a:t>
            </a:r>
          </a:p>
          <a:p>
            <a:pPr marL="0" indent="0" algn="just">
              <a:lnSpc>
                <a:spcPct val="150000"/>
              </a:lnSpc>
              <a:buNone/>
            </a:pPr>
            <a:r>
              <a:rPr lang="en-IN" sz="1400" b="1" dirty="0">
                <a:solidFill>
                  <a:schemeClr val="accent3"/>
                </a:solidFill>
                <a:latin typeface="Lato"/>
                <a:ea typeface="Lato"/>
                <a:cs typeface="Lato"/>
                <a:sym typeface="Lato"/>
              </a:rPr>
              <a:t>t2d:</a:t>
            </a:r>
            <a:r>
              <a:rPr lang="en-IN" sz="1400" b="1" dirty="0">
                <a:solidFill>
                  <a:schemeClr val="tx2">
                    <a:lumMod val="50000"/>
                  </a:schemeClr>
                </a:solidFill>
                <a:latin typeface="Lato"/>
                <a:ea typeface="Lato"/>
                <a:cs typeface="Lato"/>
                <a:sym typeface="Lato"/>
              </a:rPr>
              <a:t> Type 2 diabetes status (Y/N)</a:t>
            </a:r>
          </a:p>
          <a:p>
            <a:pPr marL="0" indent="0" algn="just">
              <a:lnSpc>
                <a:spcPct val="150000"/>
              </a:lnSpc>
              <a:buNone/>
            </a:pPr>
            <a:r>
              <a:rPr lang="en-IN" sz="1400" b="1" dirty="0">
                <a:solidFill>
                  <a:schemeClr val="accent3"/>
                </a:solidFill>
                <a:latin typeface="Lato"/>
                <a:ea typeface="Lato"/>
                <a:cs typeface="Lato"/>
                <a:sym typeface="Lato"/>
              </a:rPr>
              <a:t>gender:</a:t>
            </a:r>
            <a:r>
              <a:rPr lang="en-IN" sz="1400" b="1" dirty="0">
                <a:solidFill>
                  <a:schemeClr val="tx2">
                    <a:lumMod val="50000"/>
                  </a:schemeClr>
                </a:solidFill>
                <a:latin typeface="Lato"/>
                <a:ea typeface="Lato"/>
                <a:cs typeface="Lato"/>
                <a:sym typeface="Lato"/>
              </a:rPr>
              <a:t> Patient's gender (M/F)</a:t>
            </a:r>
            <a:endParaRPr lang="en-IN" sz="1400" dirty="0">
              <a:solidFill>
                <a:schemeClr val="tx2">
                  <a:lumMod val="50000"/>
                </a:schemeClr>
              </a:solidFill>
              <a:latin typeface="Lato"/>
              <a:ea typeface="Lato"/>
              <a:cs typeface="Lato"/>
              <a:sym typeface="Lato"/>
            </a:endParaRPr>
          </a:p>
          <a:p>
            <a:pPr marL="0" indent="0" algn="just">
              <a:lnSpc>
                <a:spcPct val="150000"/>
              </a:lnSpc>
              <a:buFont typeface="Proxima Nova"/>
              <a:buNone/>
            </a:pPr>
            <a:endParaRPr lang="en-US" sz="1400" b="1" dirty="0">
              <a:solidFill>
                <a:schemeClr val="tx2">
                  <a:lumMod val="50000"/>
                </a:schemeClr>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1C171592-7095-B52B-1534-79671B62EAC2}"/>
            </a:ext>
          </a:extLst>
        </p:cNvPr>
        <p:cNvGrpSpPr/>
        <p:nvPr/>
      </p:nvGrpSpPr>
      <p:grpSpPr>
        <a:xfrm>
          <a:off x="0" y="0"/>
          <a:ext cx="0" cy="0"/>
          <a:chOff x="0" y="0"/>
          <a:chExt cx="0" cy="0"/>
        </a:xfrm>
      </p:grpSpPr>
      <p:sp>
        <p:nvSpPr>
          <p:cNvPr id="123" name="Google Shape;123;p19">
            <a:extLst>
              <a:ext uri="{FF2B5EF4-FFF2-40B4-BE49-F238E27FC236}">
                <a16:creationId xmlns:a16="http://schemas.microsoft.com/office/drawing/2014/main" id="{D064CE39-A72C-80D7-B9C6-3C7A4E11F2DB}"/>
              </a:ext>
            </a:extLst>
          </p:cNvPr>
          <p:cNvSpPr txBox="1">
            <a:spLocks noGrp="1"/>
          </p:cNvSpPr>
          <p:nvPr>
            <p:ph type="title"/>
          </p:nvPr>
        </p:nvSpPr>
        <p:spPr>
          <a:xfrm>
            <a:off x="311700" y="842054"/>
            <a:ext cx="8520600" cy="576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dirty="0">
                <a:solidFill>
                  <a:schemeClr val="dk1"/>
                </a:solidFill>
                <a:latin typeface="Montserrat Black"/>
                <a:ea typeface="Montserrat Black"/>
                <a:cs typeface="Montserrat Black"/>
                <a:sym typeface="Montserrat Black"/>
              </a:rPr>
              <a:t>Data Processing </a:t>
            </a:r>
            <a:endParaRPr sz="2500" dirty="0">
              <a:solidFill>
                <a:schemeClr val="dk1"/>
              </a:solidFill>
              <a:latin typeface="Montserrat Black"/>
              <a:ea typeface="Montserrat Black"/>
              <a:cs typeface="Montserrat Black"/>
              <a:sym typeface="Montserrat Black"/>
            </a:endParaRPr>
          </a:p>
        </p:txBody>
      </p:sp>
      <p:sp>
        <p:nvSpPr>
          <p:cNvPr id="124" name="Google Shape;124;p19">
            <a:extLst>
              <a:ext uri="{FF2B5EF4-FFF2-40B4-BE49-F238E27FC236}">
                <a16:creationId xmlns:a16="http://schemas.microsoft.com/office/drawing/2014/main" id="{2E58F06C-B963-2033-2F2C-568BC50A53F3}"/>
              </a:ext>
            </a:extLst>
          </p:cNvPr>
          <p:cNvSpPr txBox="1">
            <a:spLocks noGrp="1"/>
          </p:cNvSpPr>
          <p:nvPr>
            <p:ph type="body" idx="1"/>
          </p:nvPr>
        </p:nvSpPr>
        <p:spPr>
          <a:xfrm>
            <a:off x="417816" y="1575496"/>
            <a:ext cx="8414483" cy="3301304"/>
          </a:xfrm>
          <a:prstGeom prst="rect">
            <a:avLst/>
          </a:prstGeom>
        </p:spPr>
        <p:txBody>
          <a:bodyPr spcFirstLastPara="1" wrap="square" lIns="91425" tIns="91425" rIns="91425" bIns="91425" anchor="t" anchorCtr="0">
            <a:noAutofit/>
          </a:bodyPr>
          <a:lstStyle/>
          <a:p>
            <a:pPr marL="0" indent="0">
              <a:lnSpc>
                <a:spcPct val="150000"/>
              </a:lnSpc>
              <a:buNone/>
            </a:pPr>
            <a:r>
              <a:rPr lang="en-IN" sz="1400" b="1" dirty="0">
                <a:solidFill>
                  <a:schemeClr val="accent3"/>
                </a:solidFill>
                <a:latin typeface="Lato"/>
                <a:ea typeface="Lato"/>
                <a:cs typeface="Lato"/>
                <a:sym typeface="Lato"/>
              </a:rPr>
              <a:t>Data Cleaning: </a:t>
            </a:r>
            <a:r>
              <a:rPr lang="en-IN" sz="1400" b="1" dirty="0">
                <a:solidFill>
                  <a:schemeClr val="tx2">
                    <a:lumMod val="50000"/>
                  </a:schemeClr>
                </a:solidFill>
                <a:latin typeface="Lato"/>
                <a:ea typeface="Lato"/>
                <a:cs typeface="Lato"/>
                <a:sym typeface="Lato"/>
              </a:rPr>
              <a:t>Handling missing values or inconsistencies. Ensure data types are correct (e.g., converting Y/N to binary).</a:t>
            </a:r>
          </a:p>
          <a:p>
            <a:pPr marL="0" indent="0">
              <a:lnSpc>
                <a:spcPct val="150000"/>
              </a:lnSpc>
              <a:buNone/>
            </a:pPr>
            <a:r>
              <a:rPr lang="en-IN" sz="1400" b="1" dirty="0">
                <a:solidFill>
                  <a:schemeClr val="accent3"/>
                </a:solidFill>
                <a:latin typeface="Lato"/>
                <a:ea typeface="Lato"/>
                <a:cs typeface="Lato"/>
                <a:sym typeface="Lato"/>
              </a:rPr>
              <a:t>Feature Engineering:</a:t>
            </a:r>
          </a:p>
          <a:p>
            <a:pPr marL="0" indent="0">
              <a:lnSpc>
                <a:spcPct val="150000"/>
              </a:lnSpc>
              <a:buNone/>
            </a:pPr>
            <a:r>
              <a:rPr lang="en-IN" sz="1400" b="1" dirty="0">
                <a:solidFill>
                  <a:schemeClr val="accent3"/>
                </a:solidFill>
                <a:latin typeface="Lato"/>
                <a:ea typeface="Lato"/>
                <a:cs typeface="Lato"/>
                <a:sym typeface="Lato"/>
              </a:rPr>
              <a:t>- Creating age groups: </a:t>
            </a:r>
            <a:r>
              <a:rPr lang="en-IN" sz="1400" b="1" dirty="0">
                <a:solidFill>
                  <a:schemeClr val="tx2">
                    <a:lumMod val="50000"/>
                  </a:schemeClr>
                </a:solidFill>
                <a:latin typeface="Lato"/>
                <a:ea typeface="Lato"/>
                <a:cs typeface="Lato"/>
                <a:sym typeface="Lato"/>
              </a:rPr>
              <a:t>Convert </a:t>
            </a:r>
            <a:r>
              <a:rPr lang="en-IN" sz="1400" b="1" dirty="0" err="1">
                <a:solidFill>
                  <a:schemeClr val="tx2">
                    <a:lumMod val="50000"/>
                  </a:schemeClr>
                </a:solidFill>
                <a:latin typeface="Lato"/>
                <a:ea typeface="Lato"/>
                <a:cs typeface="Lato"/>
                <a:sym typeface="Lato"/>
              </a:rPr>
              <a:t>numAge</a:t>
            </a:r>
            <a:r>
              <a:rPr lang="en-IN" sz="1400" b="1" dirty="0">
                <a:solidFill>
                  <a:schemeClr val="tx2">
                    <a:lumMod val="50000"/>
                  </a:schemeClr>
                </a:solidFill>
                <a:latin typeface="Lato"/>
                <a:ea typeface="Lato"/>
                <a:cs typeface="Lato"/>
                <a:sym typeface="Lato"/>
              </a:rPr>
              <a:t> into categories (e.g., 20-39, 40-59, 60+).</a:t>
            </a:r>
          </a:p>
          <a:p>
            <a:pPr marL="0" indent="0">
              <a:lnSpc>
                <a:spcPct val="150000"/>
              </a:lnSpc>
              <a:buNone/>
            </a:pPr>
            <a:r>
              <a:rPr lang="en-IN" sz="1400" b="1" dirty="0">
                <a:solidFill>
                  <a:schemeClr val="accent3"/>
                </a:solidFill>
                <a:latin typeface="Lato"/>
                <a:ea typeface="Lato"/>
                <a:cs typeface="Lato"/>
                <a:sym typeface="Lato"/>
              </a:rPr>
              <a:t>- BMI Categories:</a:t>
            </a:r>
            <a:r>
              <a:rPr lang="en-IN" sz="1400" b="1" dirty="0">
                <a:solidFill>
                  <a:schemeClr val="tx2">
                    <a:lumMod val="50000"/>
                  </a:schemeClr>
                </a:solidFill>
                <a:latin typeface="Lato"/>
                <a:ea typeface="Lato"/>
                <a:cs typeface="Lato"/>
                <a:sym typeface="Lato"/>
              </a:rPr>
              <a:t> Categorize BMI values into underweight, normal, overweight, and obese.</a:t>
            </a:r>
          </a:p>
          <a:p>
            <a:pPr marL="0" indent="0">
              <a:lnSpc>
                <a:spcPct val="150000"/>
              </a:lnSpc>
              <a:buNone/>
            </a:pPr>
            <a:r>
              <a:rPr lang="en-IN" sz="1400" b="1" dirty="0">
                <a:solidFill>
                  <a:schemeClr val="accent3"/>
                </a:solidFill>
                <a:latin typeface="Lato"/>
                <a:ea typeface="Lato"/>
                <a:cs typeface="Lato"/>
                <a:sym typeface="Lato"/>
              </a:rPr>
              <a:t>- Cholesterol Levels:</a:t>
            </a:r>
            <a:r>
              <a:rPr lang="en-IN" sz="1400" b="1" dirty="0">
                <a:solidFill>
                  <a:schemeClr val="tx2">
                    <a:lumMod val="50000"/>
                  </a:schemeClr>
                </a:solidFill>
                <a:latin typeface="Lato"/>
                <a:ea typeface="Lato"/>
                <a:cs typeface="Lato"/>
                <a:sym typeface="Lato"/>
              </a:rPr>
              <a:t> Define thresholds for optimal, borderline high, and high cholesterol levels.</a:t>
            </a:r>
          </a:p>
          <a:p>
            <a:pPr marL="0" indent="0">
              <a:lnSpc>
                <a:spcPct val="150000"/>
              </a:lnSpc>
              <a:buNone/>
            </a:pPr>
            <a:r>
              <a:rPr lang="en-IN" sz="1400" b="1" dirty="0">
                <a:solidFill>
                  <a:schemeClr val="accent3"/>
                </a:solidFill>
                <a:latin typeface="Lato"/>
                <a:ea typeface="Lato"/>
                <a:cs typeface="Lato"/>
                <a:sym typeface="Lato"/>
              </a:rPr>
              <a:t>Data Integration: </a:t>
            </a:r>
            <a:r>
              <a:rPr lang="en-IN" sz="1400" b="1" dirty="0">
                <a:solidFill>
                  <a:schemeClr val="tx2">
                    <a:lumMod val="50000"/>
                  </a:schemeClr>
                </a:solidFill>
                <a:latin typeface="Lato"/>
                <a:ea typeface="Lato"/>
                <a:cs typeface="Lato"/>
                <a:sym typeface="Lato"/>
              </a:rPr>
              <a:t>If additional external datasets are available (e.g., socio-economic factors), integrate them based on patient identifiers or geographic location.</a:t>
            </a:r>
          </a:p>
          <a:p>
            <a:pPr marL="0" indent="0">
              <a:lnSpc>
                <a:spcPct val="150000"/>
              </a:lnSpc>
              <a:buNone/>
            </a:pPr>
            <a:r>
              <a:rPr lang="en-IN" sz="1400" b="1" dirty="0">
                <a:solidFill>
                  <a:schemeClr val="accent3"/>
                </a:solidFill>
                <a:latin typeface="Lato"/>
                <a:ea typeface="Lato"/>
                <a:cs typeface="Lato"/>
                <a:sym typeface="Lato"/>
              </a:rPr>
              <a:t>Data Storage: </a:t>
            </a:r>
            <a:r>
              <a:rPr lang="en-IN" sz="1400" b="1" dirty="0">
                <a:solidFill>
                  <a:schemeClr val="tx2">
                    <a:lumMod val="50000"/>
                  </a:schemeClr>
                </a:solidFill>
                <a:latin typeface="Lato"/>
                <a:ea typeface="Lato"/>
                <a:cs typeface="Lato"/>
                <a:sym typeface="Lato"/>
              </a:rPr>
              <a:t>Data can be stored in structured formats such as CSV, Excel sheets, or relational databases (e.g., MySQL).</a:t>
            </a:r>
          </a:p>
        </p:txBody>
      </p:sp>
      <p:sp>
        <p:nvSpPr>
          <p:cNvPr id="125" name="Google Shape;125;p19">
            <a:extLst>
              <a:ext uri="{FF2B5EF4-FFF2-40B4-BE49-F238E27FC236}">
                <a16:creationId xmlns:a16="http://schemas.microsoft.com/office/drawing/2014/main" id="{30D18FD1-2FA1-8821-8469-2656E8CECC9F}"/>
              </a:ext>
            </a:extLst>
          </p:cNvPr>
          <p:cNvSpPr/>
          <p:nvPr/>
        </p:nvSpPr>
        <p:spPr>
          <a:xfrm>
            <a:off x="0" y="0"/>
            <a:ext cx="9144000" cy="685200"/>
          </a:xfrm>
          <a:prstGeom prst="rect">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E9EDEE"/>
              </a:solidFill>
              <a:latin typeface="Lato"/>
              <a:ea typeface="Lato"/>
              <a:cs typeface="Lato"/>
              <a:sym typeface="Lato"/>
            </a:endParaRPr>
          </a:p>
        </p:txBody>
      </p:sp>
      <p:grpSp>
        <p:nvGrpSpPr>
          <p:cNvPr id="126" name="Google Shape;126;p19">
            <a:extLst>
              <a:ext uri="{FF2B5EF4-FFF2-40B4-BE49-F238E27FC236}">
                <a16:creationId xmlns:a16="http://schemas.microsoft.com/office/drawing/2014/main" id="{6EA69855-C0CB-E18A-7828-19184FF80BFF}"/>
              </a:ext>
            </a:extLst>
          </p:cNvPr>
          <p:cNvGrpSpPr/>
          <p:nvPr/>
        </p:nvGrpSpPr>
        <p:grpSpPr>
          <a:xfrm>
            <a:off x="311709" y="642158"/>
            <a:ext cx="862939" cy="43053"/>
            <a:chOff x="540118" y="292850"/>
            <a:chExt cx="817332" cy="64200"/>
          </a:xfrm>
        </p:grpSpPr>
        <p:sp>
          <p:nvSpPr>
            <p:cNvPr id="127" name="Google Shape;127;p19">
              <a:extLst>
                <a:ext uri="{FF2B5EF4-FFF2-40B4-BE49-F238E27FC236}">
                  <a16:creationId xmlns:a16="http://schemas.microsoft.com/office/drawing/2014/main" id="{EAAE17A8-9064-CB5B-62CC-6F6B1C6A7BFF}"/>
                </a:ext>
              </a:extLst>
            </p:cNvPr>
            <p:cNvSpPr/>
            <p:nvPr/>
          </p:nvSpPr>
          <p:spPr>
            <a:xfrm rot="10800000">
              <a:off x="540118" y="292850"/>
              <a:ext cx="408600" cy="642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8" name="Google Shape;128;p19">
              <a:extLst>
                <a:ext uri="{FF2B5EF4-FFF2-40B4-BE49-F238E27FC236}">
                  <a16:creationId xmlns:a16="http://schemas.microsoft.com/office/drawing/2014/main" id="{45DBF400-536D-2191-C93D-98E1970CE5A1}"/>
                </a:ext>
              </a:extLst>
            </p:cNvPr>
            <p:cNvSpPr/>
            <p:nvPr/>
          </p:nvSpPr>
          <p:spPr>
            <a:xfrm rot="10800000">
              <a:off x="948850" y="292850"/>
              <a:ext cx="408600" cy="64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Tree>
    <p:extLst>
      <p:ext uri="{BB962C8B-B14F-4D97-AF65-F5344CB8AC3E}">
        <p14:creationId xmlns:p14="http://schemas.microsoft.com/office/powerpoint/2010/main" val="2465006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D0B52703-C662-AA3D-5194-2A800591EC3E}"/>
            </a:ext>
          </a:extLst>
        </p:cNvPr>
        <p:cNvGrpSpPr/>
        <p:nvPr/>
      </p:nvGrpSpPr>
      <p:grpSpPr>
        <a:xfrm>
          <a:off x="0" y="0"/>
          <a:ext cx="0" cy="0"/>
          <a:chOff x="0" y="0"/>
          <a:chExt cx="0" cy="0"/>
        </a:xfrm>
      </p:grpSpPr>
      <p:sp>
        <p:nvSpPr>
          <p:cNvPr id="123" name="Google Shape;123;p19">
            <a:extLst>
              <a:ext uri="{FF2B5EF4-FFF2-40B4-BE49-F238E27FC236}">
                <a16:creationId xmlns:a16="http://schemas.microsoft.com/office/drawing/2014/main" id="{F7BE56D0-01E8-93D4-B485-37A547F457D4}"/>
              </a:ext>
            </a:extLst>
          </p:cNvPr>
          <p:cNvSpPr txBox="1">
            <a:spLocks noGrp="1"/>
          </p:cNvSpPr>
          <p:nvPr>
            <p:ph type="title"/>
          </p:nvPr>
        </p:nvSpPr>
        <p:spPr>
          <a:xfrm>
            <a:off x="311700" y="842054"/>
            <a:ext cx="8520600" cy="576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dirty="0">
                <a:solidFill>
                  <a:schemeClr val="dk1"/>
                </a:solidFill>
                <a:latin typeface="Montserrat Black"/>
                <a:ea typeface="Montserrat Black"/>
                <a:cs typeface="Montserrat Black"/>
                <a:sym typeface="Montserrat Black"/>
              </a:rPr>
              <a:t>Section 4: Information And Knowledge Derived</a:t>
            </a:r>
            <a:endParaRPr sz="2500" dirty="0">
              <a:solidFill>
                <a:schemeClr val="dk1"/>
              </a:solidFill>
              <a:latin typeface="Montserrat Black"/>
              <a:ea typeface="Montserrat Black"/>
              <a:cs typeface="Montserrat Black"/>
              <a:sym typeface="Montserrat Black"/>
            </a:endParaRPr>
          </a:p>
        </p:txBody>
      </p:sp>
      <p:sp>
        <p:nvSpPr>
          <p:cNvPr id="124" name="Google Shape;124;p19">
            <a:extLst>
              <a:ext uri="{FF2B5EF4-FFF2-40B4-BE49-F238E27FC236}">
                <a16:creationId xmlns:a16="http://schemas.microsoft.com/office/drawing/2014/main" id="{208A8D6F-D791-B578-1FEC-EB2E5D3DE63A}"/>
              </a:ext>
            </a:extLst>
          </p:cNvPr>
          <p:cNvSpPr txBox="1">
            <a:spLocks noGrp="1"/>
          </p:cNvSpPr>
          <p:nvPr>
            <p:ph type="body" idx="1"/>
          </p:nvPr>
        </p:nvSpPr>
        <p:spPr>
          <a:xfrm>
            <a:off x="311700" y="1575496"/>
            <a:ext cx="8645263" cy="3301304"/>
          </a:xfrm>
          <a:prstGeom prst="rect">
            <a:avLst/>
          </a:prstGeom>
        </p:spPr>
        <p:txBody>
          <a:bodyPr spcFirstLastPara="1" wrap="square" lIns="91425" tIns="91425" rIns="91425" bIns="91425" anchor="t" anchorCtr="0">
            <a:noAutofit/>
          </a:bodyPr>
          <a:lstStyle/>
          <a:p>
            <a:pPr marL="285750" indent="-285750">
              <a:lnSpc>
                <a:spcPct val="150000"/>
              </a:lnSpc>
            </a:pPr>
            <a:r>
              <a:rPr lang="en-US" sz="1600" b="1" i="0" dirty="0">
                <a:solidFill>
                  <a:schemeClr val="accent3"/>
                </a:solidFill>
                <a:effectLst/>
                <a:latin typeface="fkGrotesk"/>
              </a:rPr>
              <a:t>Hypertension Prevalence: </a:t>
            </a:r>
            <a:r>
              <a:rPr lang="en-US" sz="1600" b="1" i="0" dirty="0">
                <a:effectLst/>
                <a:latin typeface="fkGrotesk"/>
              </a:rPr>
              <a:t>The prevalence of hypertension increases with age.</a:t>
            </a:r>
          </a:p>
          <a:p>
            <a:pPr marL="285750" indent="-285750">
              <a:lnSpc>
                <a:spcPct val="150000"/>
              </a:lnSpc>
            </a:pPr>
            <a:r>
              <a:rPr lang="en-US" sz="1600" b="1" i="0" dirty="0">
                <a:solidFill>
                  <a:schemeClr val="accent3"/>
                </a:solidFill>
                <a:effectLst/>
                <a:latin typeface="fkGrotesk"/>
              </a:rPr>
              <a:t>BMI and CVD: </a:t>
            </a:r>
            <a:r>
              <a:rPr lang="en-US" sz="1600" b="1" i="0" dirty="0">
                <a:effectLst/>
                <a:latin typeface="fkGrotesk"/>
              </a:rPr>
              <a:t>Elevated BMI is positively correlated with CVD risk, particularly among younger adults.</a:t>
            </a:r>
          </a:p>
          <a:p>
            <a:pPr marL="285750" indent="-285750">
              <a:lnSpc>
                <a:spcPct val="150000"/>
              </a:lnSpc>
            </a:pPr>
            <a:r>
              <a:rPr lang="en-US" sz="1600" b="1" i="0" dirty="0">
                <a:solidFill>
                  <a:schemeClr val="accent3"/>
                </a:solidFill>
                <a:effectLst/>
                <a:latin typeface="fkGrotesk"/>
              </a:rPr>
              <a:t>Smoking Impact: </a:t>
            </a:r>
            <a:r>
              <a:rPr lang="en-US" sz="1600" b="1" i="0" dirty="0">
                <a:effectLst/>
                <a:latin typeface="fkGrotesk"/>
              </a:rPr>
              <a:t>Smokers are far more likely to develop CVD, particularly if they also have high blood pressure or high cholesterol.</a:t>
            </a:r>
          </a:p>
          <a:p>
            <a:pPr marL="285750" indent="-285750">
              <a:lnSpc>
                <a:spcPct val="150000"/>
              </a:lnSpc>
            </a:pPr>
            <a:r>
              <a:rPr lang="en-US" sz="1600" b="1" i="0" dirty="0">
                <a:solidFill>
                  <a:schemeClr val="accent3"/>
                </a:solidFill>
                <a:effectLst/>
                <a:latin typeface="fkGrotesk"/>
              </a:rPr>
              <a:t>Cholesterol Levels: </a:t>
            </a:r>
            <a:r>
              <a:rPr lang="en-US" sz="1600" b="1" i="0" dirty="0">
                <a:effectLst/>
                <a:latin typeface="fkGrotesk"/>
              </a:rPr>
              <a:t>In all age categories, there is a clear correlation between high cholesterol and CVD.</a:t>
            </a:r>
          </a:p>
          <a:p>
            <a:pPr marL="285750" indent="-285750">
              <a:lnSpc>
                <a:spcPct val="150000"/>
              </a:lnSpc>
            </a:pPr>
            <a:r>
              <a:rPr lang="en-US" sz="1600" b="1" i="0" dirty="0">
                <a:solidFill>
                  <a:schemeClr val="accent3"/>
                </a:solidFill>
                <a:effectLst/>
                <a:latin typeface="fkGrotesk"/>
              </a:rPr>
              <a:t>Gender Differences: </a:t>
            </a:r>
            <a:r>
              <a:rPr lang="en-US" sz="1600" b="1" i="0" dirty="0">
                <a:effectLst/>
                <a:latin typeface="fkGrotesk"/>
              </a:rPr>
              <a:t>In general, men are more likely to have CVD.</a:t>
            </a:r>
            <a:endParaRPr lang="en-IN" sz="1600" b="1" dirty="0">
              <a:solidFill>
                <a:schemeClr val="tx2">
                  <a:lumMod val="50000"/>
                </a:schemeClr>
              </a:solidFill>
              <a:latin typeface="Lato"/>
              <a:ea typeface="Lato"/>
              <a:cs typeface="Lato"/>
              <a:sym typeface="Lato"/>
            </a:endParaRPr>
          </a:p>
        </p:txBody>
      </p:sp>
      <p:sp>
        <p:nvSpPr>
          <p:cNvPr id="125" name="Google Shape;125;p19">
            <a:extLst>
              <a:ext uri="{FF2B5EF4-FFF2-40B4-BE49-F238E27FC236}">
                <a16:creationId xmlns:a16="http://schemas.microsoft.com/office/drawing/2014/main" id="{4DD6C6FB-6EF4-1663-D566-BE7A6775086E}"/>
              </a:ext>
            </a:extLst>
          </p:cNvPr>
          <p:cNvSpPr/>
          <p:nvPr/>
        </p:nvSpPr>
        <p:spPr>
          <a:xfrm>
            <a:off x="0" y="0"/>
            <a:ext cx="9144000" cy="685200"/>
          </a:xfrm>
          <a:prstGeom prst="rect">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E9EDEE"/>
              </a:solidFill>
              <a:latin typeface="Lato"/>
              <a:ea typeface="Lato"/>
              <a:cs typeface="Lato"/>
              <a:sym typeface="Lato"/>
            </a:endParaRPr>
          </a:p>
        </p:txBody>
      </p:sp>
      <p:grpSp>
        <p:nvGrpSpPr>
          <p:cNvPr id="126" name="Google Shape;126;p19">
            <a:extLst>
              <a:ext uri="{FF2B5EF4-FFF2-40B4-BE49-F238E27FC236}">
                <a16:creationId xmlns:a16="http://schemas.microsoft.com/office/drawing/2014/main" id="{A76F85DF-C83C-7C6C-C1AB-3E4E65ABDB36}"/>
              </a:ext>
            </a:extLst>
          </p:cNvPr>
          <p:cNvGrpSpPr/>
          <p:nvPr/>
        </p:nvGrpSpPr>
        <p:grpSpPr>
          <a:xfrm>
            <a:off x="311709" y="642158"/>
            <a:ext cx="862939" cy="43053"/>
            <a:chOff x="540118" y="292850"/>
            <a:chExt cx="817332" cy="64200"/>
          </a:xfrm>
        </p:grpSpPr>
        <p:sp>
          <p:nvSpPr>
            <p:cNvPr id="127" name="Google Shape;127;p19">
              <a:extLst>
                <a:ext uri="{FF2B5EF4-FFF2-40B4-BE49-F238E27FC236}">
                  <a16:creationId xmlns:a16="http://schemas.microsoft.com/office/drawing/2014/main" id="{0020FBCD-5AA5-35E5-35D1-F76D44176FF2}"/>
                </a:ext>
              </a:extLst>
            </p:cNvPr>
            <p:cNvSpPr/>
            <p:nvPr/>
          </p:nvSpPr>
          <p:spPr>
            <a:xfrm rot="10800000">
              <a:off x="540118" y="292850"/>
              <a:ext cx="408600" cy="642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8" name="Google Shape;128;p19">
              <a:extLst>
                <a:ext uri="{FF2B5EF4-FFF2-40B4-BE49-F238E27FC236}">
                  <a16:creationId xmlns:a16="http://schemas.microsoft.com/office/drawing/2014/main" id="{A6EAA63C-F1ED-C69A-6007-6690C79BFE5E}"/>
                </a:ext>
              </a:extLst>
            </p:cNvPr>
            <p:cNvSpPr/>
            <p:nvPr/>
          </p:nvSpPr>
          <p:spPr>
            <a:xfrm rot="10800000">
              <a:off x="948850" y="292850"/>
              <a:ext cx="408600" cy="64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Tree>
    <p:extLst>
      <p:ext uri="{BB962C8B-B14F-4D97-AF65-F5344CB8AC3E}">
        <p14:creationId xmlns:p14="http://schemas.microsoft.com/office/powerpoint/2010/main" val="2088891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2"/>
          <p:cNvSpPr txBox="1">
            <a:spLocks noGrp="1"/>
          </p:cNvSpPr>
          <p:nvPr>
            <p:ph type="title"/>
          </p:nvPr>
        </p:nvSpPr>
        <p:spPr>
          <a:xfrm>
            <a:off x="311700" y="884175"/>
            <a:ext cx="8520600" cy="62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dirty="0">
                <a:solidFill>
                  <a:schemeClr val="dk1"/>
                </a:solidFill>
                <a:latin typeface="Montserrat Black"/>
                <a:ea typeface="Montserrat Black"/>
                <a:cs typeface="Montserrat Black"/>
                <a:sym typeface="Montserrat Black"/>
              </a:rPr>
              <a:t>Recommendations and Conclusions</a:t>
            </a:r>
            <a:endParaRPr sz="2500" dirty="0">
              <a:solidFill>
                <a:schemeClr val="dk1"/>
              </a:solidFill>
              <a:latin typeface="Montserrat Black"/>
              <a:ea typeface="Montserrat Black"/>
              <a:cs typeface="Montserrat Black"/>
              <a:sym typeface="Montserrat Black"/>
            </a:endParaRPr>
          </a:p>
        </p:txBody>
      </p:sp>
      <p:sp>
        <p:nvSpPr>
          <p:cNvPr id="156" name="Google Shape;156;p22"/>
          <p:cNvSpPr txBox="1">
            <a:spLocks noGrp="1"/>
          </p:cNvSpPr>
          <p:nvPr>
            <p:ph type="body" idx="1"/>
          </p:nvPr>
        </p:nvSpPr>
        <p:spPr>
          <a:xfrm>
            <a:off x="311700" y="1511175"/>
            <a:ext cx="6494100" cy="3249600"/>
          </a:xfrm>
          <a:prstGeom prst="rect">
            <a:avLst/>
          </a:prstGeom>
        </p:spPr>
        <p:txBody>
          <a:bodyPr spcFirstLastPara="1" wrap="square" lIns="91425" tIns="91425" rIns="91425" bIns="91425" anchor="t" anchorCtr="0">
            <a:noAutofit/>
          </a:bodyPr>
          <a:lstStyle/>
          <a:p>
            <a:r>
              <a:rPr lang="en-US" sz="1550" dirty="0"/>
              <a:t>Prioritize Age-Specific and Gender-Aware Screening: Implement routine CVD screenings, especially for older adults (55+) and tailor interventions according to gender-specific risk profiles, considering the shift to female patients in the later dataset (starting row 192621).</a:t>
            </a:r>
          </a:p>
          <a:p>
            <a:r>
              <a:rPr lang="en-US" sz="1550" dirty="0"/>
              <a:t>Focus on Hypertension and Lifestyle Factors: Emphasize blood pressure management and lifestyle interventions targeting smoking cessation and healthy weight for all at-risk patients.</a:t>
            </a:r>
          </a:p>
          <a:p>
            <a:r>
              <a:rPr lang="en-US" sz="1550" dirty="0"/>
              <a:t>To conclude, Leveraging data-driven approaches can significantly improve CVD risk assessment and management. By tailoring strategies to individual risk profiles and demographic factors, we can enhance patient outcomes and reduce the overall burden of cardiovascular disease.</a:t>
            </a:r>
          </a:p>
        </p:txBody>
      </p:sp>
      <p:sp>
        <p:nvSpPr>
          <p:cNvPr id="157" name="Google Shape;157;p22"/>
          <p:cNvSpPr/>
          <p:nvPr/>
        </p:nvSpPr>
        <p:spPr>
          <a:xfrm>
            <a:off x="0" y="0"/>
            <a:ext cx="9144000" cy="685200"/>
          </a:xfrm>
          <a:prstGeom prst="rect">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E9EDEE"/>
              </a:solidFill>
              <a:latin typeface="Lato"/>
              <a:ea typeface="Lato"/>
              <a:cs typeface="Lato"/>
              <a:sym typeface="Lato"/>
            </a:endParaRPr>
          </a:p>
        </p:txBody>
      </p:sp>
      <p:grpSp>
        <p:nvGrpSpPr>
          <p:cNvPr id="158" name="Google Shape;158;p22"/>
          <p:cNvGrpSpPr/>
          <p:nvPr/>
        </p:nvGrpSpPr>
        <p:grpSpPr>
          <a:xfrm>
            <a:off x="311709" y="642158"/>
            <a:ext cx="862939" cy="43053"/>
            <a:chOff x="540118" y="292850"/>
            <a:chExt cx="817332" cy="64200"/>
          </a:xfrm>
        </p:grpSpPr>
        <p:sp>
          <p:nvSpPr>
            <p:cNvPr id="159" name="Google Shape;159;p22"/>
            <p:cNvSpPr/>
            <p:nvPr/>
          </p:nvSpPr>
          <p:spPr>
            <a:xfrm rot="10800000">
              <a:off x="540118" y="292850"/>
              <a:ext cx="408600" cy="642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0" name="Google Shape;160;p22"/>
            <p:cNvSpPr/>
            <p:nvPr/>
          </p:nvSpPr>
          <p:spPr>
            <a:xfrm rot="10800000">
              <a:off x="948850" y="292850"/>
              <a:ext cx="408600" cy="64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pic>
        <p:nvPicPr>
          <p:cNvPr id="161" name="Google Shape;161;p22"/>
          <p:cNvPicPr preferRelativeResize="0"/>
          <p:nvPr/>
        </p:nvPicPr>
        <p:blipFill>
          <a:blip r:embed="rId3">
            <a:alphaModFix/>
          </a:blip>
          <a:stretch>
            <a:fillRect/>
          </a:stretch>
        </p:blipFill>
        <p:spPr>
          <a:xfrm>
            <a:off x="6924725" y="2781150"/>
            <a:ext cx="1907575" cy="1787925"/>
          </a:xfrm>
          <a:prstGeom prst="rect">
            <a:avLst/>
          </a:prstGeom>
          <a:noFill/>
          <a:ln>
            <a:noFill/>
          </a:ln>
        </p:spPr>
      </p:pic>
    </p:spTree>
  </p:cSld>
  <p:clrMapOvr>
    <a:masterClrMapping/>
  </p:clrMapOvr>
</p:sld>
</file>

<file path=ppt/theme/theme1.xml><?xml version="1.0" encoding="utf-8"?>
<a:theme xmlns:a="http://schemas.openxmlformats.org/drawingml/2006/main"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1547</TotalTime>
  <Words>1109</Words>
  <Application>Microsoft Office PowerPoint</Application>
  <PresentationFormat>On-screen Show (16:9)</PresentationFormat>
  <Paragraphs>70</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Proxima Nova</vt:lpstr>
      <vt:lpstr>fkGrotesk</vt:lpstr>
      <vt:lpstr>Arial</vt:lpstr>
      <vt:lpstr>Alfa Slab One</vt:lpstr>
      <vt:lpstr>Montserrat Black</vt:lpstr>
      <vt:lpstr>Lato Black</vt:lpstr>
      <vt:lpstr>fkGroteskNeue</vt:lpstr>
      <vt:lpstr>Lato</vt:lpstr>
      <vt:lpstr>Gameday</vt:lpstr>
      <vt:lpstr>EAI 6060 Healthcare Information Processing  Addressing Cardiovascular Disease Risk Factors Through Data Analysis</vt:lpstr>
      <vt:lpstr>Introduction</vt:lpstr>
      <vt:lpstr>Data Selection and Rationale</vt:lpstr>
      <vt:lpstr>Section 1: Problem</vt:lpstr>
      <vt:lpstr>Specific Problems To Address</vt:lpstr>
      <vt:lpstr>PowerPoint Presentation</vt:lpstr>
      <vt:lpstr>Section 3: Data </vt:lpstr>
      <vt:lpstr>Data Processing </vt:lpstr>
      <vt:lpstr>Section 4: Information And Knowledge Derived</vt:lpstr>
      <vt:lpstr>Recommendations and 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 Anadkat</dc:creator>
  <cp:lastModifiedBy>Harsh Bharatbhai Anadkat</cp:lastModifiedBy>
  <cp:revision>12</cp:revision>
  <dcterms:modified xsi:type="dcterms:W3CDTF">2025-02-15T04:33:21Z</dcterms:modified>
</cp:coreProperties>
</file>